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6" r:id="rId4"/>
    <p:sldId id="262" r:id="rId5"/>
    <p:sldId id="263" r:id="rId6"/>
    <p:sldId id="261" r:id="rId7"/>
    <p:sldId id="265" r:id="rId8"/>
    <p:sldId id="277" r:id="rId9"/>
    <p:sldId id="267" r:id="rId10"/>
    <p:sldId id="270" r:id="rId11"/>
    <p:sldId id="269" r:id="rId12"/>
    <p:sldId id="266" r:id="rId13"/>
    <p:sldId id="278" r:id="rId14"/>
    <p:sldId id="279" r:id="rId15"/>
    <p:sldId id="271" r:id="rId16"/>
    <p:sldId id="275" r:id="rId17"/>
    <p:sldId id="280" r:id="rId18"/>
    <p:sldId id="276" r:id="rId19"/>
    <p:sldId id="273" r:id="rId20"/>
    <p:sldId id="274" r:id="rId21"/>
    <p:sldId id="272" r:id="rId22"/>
    <p:sldId id="281" r:id="rId23"/>
    <p:sldId id="283" r:id="rId24"/>
    <p:sldId id="282" r:id="rId25"/>
    <p:sldId id="28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1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19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17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941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4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72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90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2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27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5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3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FC84-5920-46E3-9BBC-E99E1A708425}" type="datetimeFigureOut">
              <a:rPr lang="zh-CN" altLang="en-US" smtClean="0"/>
              <a:t>2024/8/15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32AB3-3B2A-4941-86D5-B513B43C9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1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516698" y="83890"/>
            <a:ext cx="1652631" cy="9815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核查机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075340" y="83890"/>
            <a:ext cx="1652631" cy="9815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页面</a:t>
            </a:r>
            <a:r>
              <a:rPr lang="zh-CN" altLang="en-US" dirty="0" smtClean="0">
                <a:solidFill>
                  <a:schemeClr val="tx1"/>
                </a:solidFill>
              </a:rPr>
              <a:t>服务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633982" y="83890"/>
            <a:ext cx="1652631" cy="9815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其它</a:t>
            </a:r>
            <a:r>
              <a:rPr lang="zh-CN" altLang="en-US" dirty="0" smtClean="0">
                <a:solidFill>
                  <a:schemeClr val="tx1"/>
                </a:solidFill>
              </a:rPr>
              <a:t>服务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745684" y="2227277"/>
            <a:ext cx="4311941" cy="545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网关</a:t>
            </a:r>
            <a:r>
              <a:rPr lang="en-US" altLang="zh-CN" dirty="0" smtClean="0">
                <a:solidFill>
                  <a:schemeClr val="tx1"/>
                </a:solidFill>
              </a:rPr>
              <a:t>(gateway)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075340" y="3934437"/>
            <a:ext cx="1652631" cy="70467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supercmd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16697" y="3934437"/>
            <a:ext cx="1652631" cy="70467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supercmd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633982" y="3934437"/>
            <a:ext cx="1652631" cy="70467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supercmd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2513" y="5989740"/>
            <a:ext cx="9534086" cy="70886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/>
          <p:cNvSpPr/>
          <p:nvPr/>
        </p:nvSpPr>
        <p:spPr>
          <a:xfrm>
            <a:off x="2004970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立方体 22"/>
          <p:cNvSpPr/>
          <p:nvPr/>
        </p:nvSpPr>
        <p:spPr>
          <a:xfrm>
            <a:off x="3137483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立方体 23"/>
          <p:cNvSpPr/>
          <p:nvPr/>
        </p:nvSpPr>
        <p:spPr>
          <a:xfrm>
            <a:off x="4269996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立方体 25"/>
          <p:cNvSpPr/>
          <p:nvPr/>
        </p:nvSpPr>
        <p:spPr>
          <a:xfrm>
            <a:off x="5402509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立方体 26"/>
          <p:cNvSpPr/>
          <p:nvPr/>
        </p:nvSpPr>
        <p:spPr>
          <a:xfrm>
            <a:off x="6535022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立方体 27"/>
          <p:cNvSpPr/>
          <p:nvPr/>
        </p:nvSpPr>
        <p:spPr>
          <a:xfrm>
            <a:off x="7667535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立方体 29"/>
          <p:cNvSpPr/>
          <p:nvPr/>
        </p:nvSpPr>
        <p:spPr>
          <a:xfrm>
            <a:off x="8800048" y="6088308"/>
            <a:ext cx="578840" cy="511729"/>
          </a:xfrm>
          <a:prstGeom prst="cub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77314" y="61474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网元</a:t>
            </a:r>
            <a:endParaRPr lang="zh-CN" altLang="en-US" sz="2000" dirty="0"/>
          </a:p>
        </p:txBody>
      </p:sp>
      <p:sp>
        <p:nvSpPr>
          <p:cNvPr id="32" name="文本框 31"/>
          <p:cNvSpPr txBox="1"/>
          <p:nvPr/>
        </p:nvSpPr>
        <p:spPr>
          <a:xfrm>
            <a:off x="9742859" y="6021006"/>
            <a:ext cx="559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…</a:t>
            </a:r>
            <a:endParaRPr lang="zh-CN" altLang="en-US" sz="3600" b="1" dirty="0"/>
          </a:p>
        </p:txBody>
      </p:sp>
      <p:cxnSp>
        <p:nvCxnSpPr>
          <p:cNvPr id="33" name="直接箭头连接符 32"/>
          <p:cNvCxnSpPr>
            <a:stCxn id="3" idx="2"/>
            <a:endCxn id="11" idx="0"/>
          </p:cNvCxnSpPr>
          <p:nvPr/>
        </p:nvCxnSpPr>
        <p:spPr>
          <a:xfrm>
            <a:off x="3343014" y="1065403"/>
            <a:ext cx="2558641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5" idx="2"/>
            <a:endCxn id="11" idx="0"/>
          </p:cNvCxnSpPr>
          <p:nvPr/>
        </p:nvCxnSpPr>
        <p:spPr>
          <a:xfrm flipH="1">
            <a:off x="5901655" y="1065403"/>
            <a:ext cx="1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6" idx="2"/>
            <a:endCxn id="11" idx="0"/>
          </p:cNvCxnSpPr>
          <p:nvPr/>
        </p:nvCxnSpPr>
        <p:spPr>
          <a:xfrm flipH="1">
            <a:off x="5901655" y="1065403"/>
            <a:ext cx="2558643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1" idx="2"/>
            <a:endCxn id="19" idx="0"/>
          </p:cNvCxnSpPr>
          <p:nvPr/>
        </p:nvCxnSpPr>
        <p:spPr>
          <a:xfrm flipH="1">
            <a:off x="3343013" y="2772562"/>
            <a:ext cx="2558642" cy="116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1" idx="2"/>
            <a:endCxn id="18" idx="0"/>
          </p:cNvCxnSpPr>
          <p:nvPr/>
        </p:nvCxnSpPr>
        <p:spPr>
          <a:xfrm>
            <a:off x="5901655" y="2772562"/>
            <a:ext cx="1" cy="116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1" idx="2"/>
            <a:endCxn id="20" idx="0"/>
          </p:cNvCxnSpPr>
          <p:nvPr/>
        </p:nvCxnSpPr>
        <p:spPr>
          <a:xfrm>
            <a:off x="5901655" y="2772562"/>
            <a:ext cx="2558643" cy="116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19" idx="2"/>
          </p:cNvCxnSpPr>
          <p:nvPr/>
        </p:nvCxnSpPr>
        <p:spPr>
          <a:xfrm flipH="1">
            <a:off x="3343012" y="4639113"/>
            <a:ext cx="1" cy="1350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H="1">
            <a:off x="5899555" y="4623383"/>
            <a:ext cx="1" cy="1350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533698" y="4631248"/>
            <a:ext cx="1" cy="1350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2573322" y="620785"/>
            <a:ext cx="1539379" cy="43675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</a:rPr>
              <a:t>supercmd-sdk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5129865" y="628649"/>
            <a:ext cx="1539379" cy="43675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</a:rPr>
              <a:t>supercmd-sdk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688506" y="628649"/>
            <a:ext cx="1539379" cy="43675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</a:rPr>
              <a:t>supercmd-sdk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408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4303552" y="6054940"/>
            <a:ext cx="4812636" cy="64947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18115" y="958012"/>
            <a:ext cx="11811356" cy="391600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36939" y="1471172"/>
            <a:ext cx="1493197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httpinterface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436305" y="4292658"/>
            <a:ext cx="415137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super-</a:t>
            </a:r>
            <a:r>
              <a:rPr lang="en-US" altLang="zh-CN" dirty="0" err="1" smtClean="0">
                <a:solidFill>
                  <a:schemeClr val="tx1"/>
                </a:solidFill>
              </a:rPr>
              <a:t>cmd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247893" y="3646287"/>
            <a:ext cx="2228568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applog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36939" y="2643315"/>
            <a:ext cx="3102943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nfv</a:t>
            </a:r>
            <a:r>
              <a:rPr lang="en-US" altLang="zh-CN" dirty="0" smtClean="0">
                <a:solidFill>
                  <a:schemeClr val="tx1"/>
                </a:solidFill>
              </a:rPr>
              <a:t>-portal</a:t>
            </a:r>
            <a:r>
              <a:rPr lang="en-US" altLang="zh-CN" sz="1400" dirty="0" smtClean="0">
                <a:solidFill>
                  <a:schemeClr val="tx1"/>
                </a:solidFill>
              </a:rPr>
              <a:t>(</a:t>
            </a:r>
            <a:r>
              <a:rPr lang="zh-CN" altLang="en-US" sz="1400" dirty="0" smtClean="0">
                <a:solidFill>
                  <a:schemeClr val="tx1"/>
                </a:solidFill>
              </a:rPr>
              <a:t>前端页面</a:t>
            </a:r>
            <a:r>
              <a:rPr lang="en-US" altLang="zh-CN" sz="1400" dirty="0" smtClean="0">
                <a:solidFill>
                  <a:schemeClr val="tx1"/>
                </a:solidFill>
              </a:rPr>
              <a:t>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383928" y="2643315"/>
            <a:ext cx="2538642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bureau-check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44174" y="167040"/>
            <a:ext cx="800068" cy="4823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solidFill>
                  <a:schemeClr val="tx1"/>
                </a:solidFill>
              </a:rPr>
              <a:t>集团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柱形 13"/>
          <p:cNvSpPr/>
          <p:nvPr/>
        </p:nvSpPr>
        <p:spPr>
          <a:xfrm>
            <a:off x="4856193" y="6197552"/>
            <a:ext cx="676581" cy="406190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6141313" y="5392921"/>
            <a:ext cx="755002" cy="35312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UDM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4377617" y="5374763"/>
            <a:ext cx="1676145" cy="356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东信指令平台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2" name="直接箭头连接符 61"/>
          <p:cNvCxnSpPr>
            <a:endCxn id="58" idx="0"/>
          </p:cNvCxnSpPr>
          <p:nvPr/>
        </p:nvCxnSpPr>
        <p:spPr>
          <a:xfrm>
            <a:off x="5215689" y="4775024"/>
            <a:ext cx="1" cy="59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6518813" y="4777706"/>
            <a:ext cx="1" cy="59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8279043" y="4775023"/>
            <a:ext cx="0" cy="1279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8222211" y="5413461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/>
              <a:t>ssh</a:t>
            </a:r>
            <a:r>
              <a:rPr lang="en-US" altLang="zh-CN" sz="1400" dirty="0" smtClean="0"/>
              <a:t>/</a:t>
            </a:r>
            <a:r>
              <a:rPr lang="en-US" altLang="zh-CN" sz="1400" dirty="0" smtClean="0"/>
              <a:t>telnet</a:t>
            </a:r>
            <a:endParaRPr lang="zh-CN" altLang="en-US" sz="1400" dirty="0"/>
          </a:p>
        </p:txBody>
      </p:sp>
      <p:cxnSp>
        <p:nvCxnSpPr>
          <p:cNvPr id="70" name="直接箭头连接符 69"/>
          <p:cNvCxnSpPr>
            <a:stCxn id="58" idx="2"/>
          </p:cNvCxnSpPr>
          <p:nvPr/>
        </p:nvCxnSpPr>
        <p:spPr>
          <a:xfrm flipH="1">
            <a:off x="5215689" y="5731267"/>
            <a:ext cx="1" cy="33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57" idx="2"/>
          </p:cNvCxnSpPr>
          <p:nvPr/>
        </p:nvCxnSpPr>
        <p:spPr>
          <a:xfrm flipH="1">
            <a:off x="6518813" y="5746048"/>
            <a:ext cx="1" cy="30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云形 87"/>
          <p:cNvSpPr/>
          <p:nvPr/>
        </p:nvSpPr>
        <p:spPr>
          <a:xfrm>
            <a:off x="4706830" y="2235244"/>
            <a:ext cx="1991105" cy="1517967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Redis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</p:txBody>
      </p:sp>
      <p:sp>
        <p:nvSpPr>
          <p:cNvPr id="89" name="矩形 88"/>
          <p:cNvSpPr/>
          <p:nvPr/>
        </p:nvSpPr>
        <p:spPr>
          <a:xfrm>
            <a:off x="5221427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5391036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5560645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5725471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5895080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6064689" y="2811895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5216934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5386543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5556152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5720978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5890587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6060196" y="3230528"/>
            <a:ext cx="169609" cy="1502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/>
          <p:cNvCxnSpPr>
            <a:stCxn id="11" idx="3"/>
            <a:endCxn id="89" idx="1"/>
          </p:cNvCxnSpPr>
          <p:nvPr/>
        </p:nvCxnSpPr>
        <p:spPr>
          <a:xfrm>
            <a:off x="3639882" y="2884498"/>
            <a:ext cx="1581545" cy="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/>
        </p:nvCxnSpPr>
        <p:spPr>
          <a:xfrm flipH="1">
            <a:off x="1166070" y="649406"/>
            <a:ext cx="16779" cy="821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/>
        </p:nvCxnSpPr>
        <p:spPr>
          <a:xfrm flipV="1">
            <a:off x="1385512" y="649406"/>
            <a:ext cx="8368" cy="821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圆角矩形 216"/>
          <p:cNvSpPr/>
          <p:nvPr/>
        </p:nvSpPr>
        <p:spPr>
          <a:xfrm>
            <a:off x="7007686" y="5392921"/>
            <a:ext cx="1168260" cy="35312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行业网关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7570066" y="4775024"/>
            <a:ext cx="1" cy="59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/>
          <p:nvPr/>
        </p:nvCxnSpPr>
        <p:spPr>
          <a:xfrm flipH="1">
            <a:off x="7575118" y="5746048"/>
            <a:ext cx="1" cy="30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圆柱形 224"/>
          <p:cNvSpPr/>
          <p:nvPr/>
        </p:nvSpPr>
        <p:spPr>
          <a:xfrm>
            <a:off x="5702383" y="6207315"/>
            <a:ext cx="676581" cy="406190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圆柱形 225"/>
          <p:cNvSpPr/>
          <p:nvPr/>
        </p:nvSpPr>
        <p:spPr>
          <a:xfrm>
            <a:off x="6545645" y="6207315"/>
            <a:ext cx="676581" cy="406190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圆柱形 226"/>
          <p:cNvSpPr/>
          <p:nvPr/>
        </p:nvSpPr>
        <p:spPr>
          <a:xfrm>
            <a:off x="7383928" y="6197552"/>
            <a:ext cx="676581" cy="406190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圆柱形 227"/>
          <p:cNvSpPr/>
          <p:nvPr/>
        </p:nvSpPr>
        <p:spPr>
          <a:xfrm>
            <a:off x="8222211" y="6175517"/>
            <a:ext cx="676581" cy="406190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4227649" y="62247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网元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2404418" y="4481731"/>
            <a:ext cx="1307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websocket</a:t>
            </a:r>
            <a:endParaRPr lang="zh-CN" altLang="en-US" dirty="0"/>
          </a:p>
        </p:txBody>
      </p:sp>
      <p:cxnSp>
        <p:nvCxnSpPr>
          <p:cNvPr id="106" name="直接箭头连接符 105"/>
          <p:cNvCxnSpPr>
            <a:endCxn id="100" idx="2"/>
          </p:cNvCxnSpPr>
          <p:nvPr/>
        </p:nvCxnSpPr>
        <p:spPr>
          <a:xfrm flipH="1" flipV="1">
            <a:off x="6145001" y="3380796"/>
            <a:ext cx="4492" cy="91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肘形连接符 108"/>
          <p:cNvCxnSpPr>
            <a:stCxn id="95" idx="1"/>
            <a:endCxn id="10" idx="0"/>
          </p:cNvCxnSpPr>
          <p:nvPr/>
        </p:nvCxnSpPr>
        <p:spPr>
          <a:xfrm rot="10800000" flipV="1">
            <a:off x="3362178" y="3305661"/>
            <a:ext cx="1854757" cy="3406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stCxn id="11" idx="2"/>
            <a:endCxn id="9" idx="1"/>
          </p:cNvCxnSpPr>
          <p:nvPr/>
        </p:nvCxnSpPr>
        <p:spPr>
          <a:xfrm rot="16200000" flipH="1">
            <a:off x="2558278" y="2655814"/>
            <a:ext cx="1408160" cy="23478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H="1">
            <a:off x="2667699" y="3125680"/>
            <a:ext cx="8389" cy="52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圆角矩形 142"/>
          <p:cNvSpPr/>
          <p:nvPr/>
        </p:nvSpPr>
        <p:spPr>
          <a:xfrm>
            <a:off x="4512870" y="4232751"/>
            <a:ext cx="415137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super-</a:t>
            </a:r>
            <a:r>
              <a:rPr lang="en-US" altLang="zh-CN" dirty="0" err="1" smtClean="0">
                <a:solidFill>
                  <a:schemeClr val="tx1"/>
                </a:solidFill>
              </a:rPr>
              <a:t>cmd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4596780" y="4184031"/>
            <a:ext cx="415137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super-</a:t>
            </a:r>
            <a:r>
              <a:rPr lang="en-US" altLang="zh-CN" dirty="0" err="1" smtClean="0">
                <a:solidFill>
                  <a:schemeClr val="tx1"/>
                </a:solidFill>
              </a:rPr>
              <a:t>cmd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2" name="直接箭头连接符 121"/>
          <p:cNvCxnSpPr>
            <a:stCxn id="94" idx="3"/>
            <a:endCxn id="12" idx="1"/>
          </p:cNvCxnSpPr>
          <p:nvPr/>
        </p:nvCxnSpPr>
        <p:spPr>
          <a:xfrm flipV="1">
            <a:off x="6234298" y="2884498"/>
            <a:ext cx="1149630" cy="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>
            <a:off x="8060509" y="3125680"/>
            <a:ext cx="0" cy="1058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圆角矩形 150"/>
          <p:cNvSpPr/>
          <p:nvPr/>
        </p:nvSpPr>
        <p:spPr>
          <a:xfrm>
            <a:off x="7478835" y="2592139"/>
            <a:ext cx="2538642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bureau-check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7570066" y="2541188"/>
            <a:ext cx="2538642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bureau-check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9021618" y="4196076"/>
            <a:ext cx="2228568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fileServer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9506614" y="3125680"/>
            <a:ext cx="6502" cy="1058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圆角矩形 170"/>
          <p:cNvSpPr/>
          <p:nvPr/>
        </p:nvSpPr>
        <p:spPr>
          <a:xfrm>
            <a:off x="1730770" y="167040"/>
            <a:ext cx="800068" cy="4823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二编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2617366" y="167040"/>
            <a:ext cx="800068" cy="4823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eoms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0" name="直接箭头连接符 159"/>
          <p:cNvCxnSpPr>
            <a:stCxn id="171" idx="2"/>
          </p:cNvCxnSpPr>
          <p:nvPr/>
        </p:nvCxnSpPr>
        <p:spPr>
          <a:xfrm>
            <a:off x="2130804" y="649406"/>
            <a:ext cx="0" cy="1993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圆角矩形 180"/>
          <p:cNvSpPr/>
          <p:nvPr/>
        </p:nvSpPr>
        <p:spPr>
          <a:xfrm>
            <a:off x="2384806" y="1471923"/>
            <a:ext cx="1283872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dmIMAP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62" name="直接箭头连接符 161"/>
          <p:cNvCxnSpPr>
            <a:stCxn id="172" idx="2"/>
            <a:endCxn id="181" idx="0"/>
          </p:cNvCxnSpPr>
          <p:nvPr/>
        </p:nvCxnSpPr>
        <p:spPr>
          <a:xfrm>
            <a:off x="3017400" y="649406"/>
            <a:ext cx="9342" cy="822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5" idx="2"/>
          </p:cNvCxnSpPr>
          <p:nvPr/>
        </p:nvCxnSpPr>
        <p:spPr>
          <a:xfrm flipH="1">
            <a:off x="1283537" y="1953538"/>
            <a:ext cx="1" cy="689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81" idx="2"/>
          </p:cNvCxnSpPr>
          <p:nvPr/>
        </p:nvCxnSpPr>
        <p:spPr>
          <a:xfrm flipH="1">
            <a:off x="3017400" y="1954289"/>
            <a:ext cx="9342" cy="701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圆柱形 190"/>
          <p:cNvSpPr/>
          <p:nvPr/>
        </p:nvSpPr>
        <p:spPr>
          <a:xfrm>
            <a:off x="1619478" y="5563791"/>
            <a:ext cx="1143005" cy="968709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MySQL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5" name="直接箭头连接符 174"/>
          <p:cNvCxnSpPr>
            <a:endCxn id="191" idx="1"/>
          </p:cNvCxnSpPr>
          <p:nvPr/>
        </p:nvCxnSpPr>
        <p:spPr>
          <a:xfrm>
            <a:off x="2190980" y="4874014"/>
            <a:ext cx="1" cy="689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圆角矩形 194"/>
          <p:cNvSpPr/>
          <p:nvPr/>
        </p:nvSpPr>
        <p:spPr>
          <a:xfrm>
            <a:off x="6152581" y="1471923"/>
            <a:ext cx="227822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timertask</a:t>
            </a:r>
            <a:r>
              <a:rPr lang="en-US" altLang="zh-CN" sz="1400" dirty="0" smtClean="0">
                <a:solidFill>
                  <a:schemeClr val="tx1"/>
                </a:solidFill>
              </a:rPr>
              <a:t>(</a:t>
            </a:r>
            <a:r>
              <a:rPr lang="zh-CN" altLang="en-US" sz="1400" dirty="0" smtClean="0">
                <a:solidFill>
                  <a:schemeClr val="tx1"/>
                </a:solidFill>
              </a:rPr>
              <a:t>定时任务</a:t>
            </a:r>
            <a:r>
              <a:rPr lang="en-US" altLang="zh-CN" sz="1400" dirty="0" smtClean="0">
                <a:solidFill>
                  <a:schemeClr val="tx1"/>
                </a:solidFill>
              </a:rPr>
              <a:t>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6697935" y="186949"/>
            <a:ext cx="1210420" cy="4823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短</a:t>
            </a:r>
            <a:r>
              <a:rPr lang="zh-CN" altLang="en-US" dirty="0" smtClean="0">
                <a:solidFill>
                  <a:schemeClr val="tx1"/>
                </a:solidFill>
              </a:rPr>
              <a:t>信网关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9" name="直接箭头连接符 178"/>
          <p:cNvCxnSpPr>
            <a:stCxn id="195" idx="0"/>
            <a:endCxn id="196" idx="2"/>
          </p:cNvCxnSpPr>
          <p:nvPr/>
        </p:nvCxnSpPr>
        <p:spPr>
          <a:xfrm flipV="1">
            <a:off x="7291694" y="669315"/>
            <a:ext cx="11451" cy="80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圆角矩形 199"/>
          <p:cNvSpPr/>
          <p:nvPr/>
        </p:nvSpPr>
        <p:spPr>
          <a:xfrm>
            <a:off x="9116187" y="1468359"/>
            <a:ext cx="2487949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black-sender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9515302" y="186949"/>
            <a:ext cx="1689720" cy="4823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中央管理平台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3" name="直接箭头连接符 182"/>
          <p:cNvCxnSpPr>
            <a:stCxn id="201" idx="2"/>
            <a:endCxn id="200" idx="0"/>
          </p:cNvCxnSpPr>
          <p:nvPr/>
        </p:nvCxnSpPr>
        <p:spPr>
          <a:xfrm>
            <a:off x="10360162" y="669315"/>
            <a:ext cx="0" cy="799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/>
          <p:cNvSpPr txBox="1"/>
          <p:nvPr/>
        </p:nvSpPr>
        <p:spPr>
          <a:xfrm>
            <a:off x="10360162" y="97958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加解</a:t>
            </a:r>
            <a:r>
              <a:rPr lang="zh-CN" altLang="en-US" sz="1400" dirty="0" smtClean="0"/>
              <a:t>黑</a:t>
            </a:r>
            <a:endParaRPr lang="zh-CN" altLang="en-US" sz="1400" dirty="0"/>
          </a:p>
        </p:txBody>
      </p:sp>
      <p:sp>
        <p:nvSpPr>
          <p:cNvPr id="208" name="文本框 207"/>
          <p:cNvSpPr txBox="1"/>
          <p:nvPr/>
        </p:nvSpPr>
        <p:spPr>
          <a:xfrm>
            <a:off x="6490424" y="98482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短</a:t>
            </a:r>
            <a:r>
              <a:rPr lang="zh-CN" altLang="en-US" sz="1400" dirty="0" smtClean="0"/>
              <a:t>信发送</a:t>
            </a:r>
            <a:endParaRPr lang="zh-CN" altLang="en-US" sz="1400" dirty="0"/>
          </a:p>
        </p:txBody>
      </p:sp>
      <p:sp>
        <p:nvSpPr>
          <p:cNvPr id="210" name="文本框 209"/>
          <p:cNvSpPr txBox="1"/>
          <p:nvPr/>
        </p:nvSpPr>
        <p:spPr>
          <a:xfrm>
            <a:off x="1328162" y="989023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工</a:t>
            </a:r>
            <a:r>
              <a:rPr lang="zh-CN" altLang="en-US" sz="1400" dirty="0" smtClean="0"/>
              <a:t>单下发</a:t>
            </a:r>
            <a:r>
              <a:rPr lang="en-US" altLang="zh-CN" sz="1400" dirty="0" smtClean="0"/>
              <a:t>/</a:t>
            </a:r>
            <a:r>
              <a:rPr lang="zh-CN" altLang="en-US" sz="1400" dirty="0" smtClean="0"/>
              <a:t>报结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418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9"/>
          <p:cNvSpPr/>
          <p:nvPr/>
        </p:nvSpPr>
        <p:spPr>
          <a:xfrm>
            <a:off x="1023458" y="1921079"/>
            <a:ext cx="9966358" cy="4068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317072" y="5117284"/>
            <a:ext cx="9387279" cy="7046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8544188" y="2011259"/>
            <a:ext cx="2114024" cy="29948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认证授权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258349" y="656700"/>
            <a:ext cx="9446002" cy="7298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549319" y="5262948"/>
            <a:ext cx="1065401" cy="482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MySQL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03177" y="5257610"/>
            <a:ext cx="1065401" cy="482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Redis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895989" y="5257609"/>
            <a:ext cx="1259103" cy="48236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FTP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674217" y="2704404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S</a:t>
            </a:r>
            <a:r>
              <a:rPr lang="en-US" altLang="zh-CN" dirty="0" err="1" smtClean="0">
                <a:solidFill>
                  <a:schemeClr val="tx1"/>
                </a:solidFill>
              </a:rPr>
              <a:t>hiro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674217" y="3403836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spring-security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341625" y="2011259"/>
            <a:ext cx="2114024" cy="29948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运维监控</a:t>
            </a:r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1471654" y="2696016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spring-boot-admin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471654" y="3396495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Prometheus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471654" y="4108509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Grafana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144700" y="2011259"/>
            <a:ext cx="2114024" cy="29948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辅助框架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3699073" y="2040431"/>
            <a:ext cx="2114024" cy="29948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核心框架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en-US" altLang="zh-CN" dirty="0"/>
          </a:p>
          <a:p>
            <a:pPr algn="ctr"/>
            <a:endParaRPr lang="en-US" altLang="zh-CN" dirty="0" smtClean="0"/>
          </a:p>
          <a:p>
            <a:pPr algn="ctr"/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3008948" y="780437"/>
            <a:ext cx="1853966" cy="48236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</a:t>
            </a:r>
            <a:r>
              <a:rPr lang="en-US" altLang="zh-CN" dirty="0" smtClean="0">
                <a:solidFill>
                  <a:schemeClr val="tx1"/>
                </a:solidFill>
              </a:rPr>
              <a:t>tml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155037" y="790133"/>
            <a:ext cx="1853966" cy="48236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jQuery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756085" y="1373432"/>
            <a:ext cx="0" cy="547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7197754" y="1402603"/>
            <a:ext cx="0" cy="518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229365" y="1462589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http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6018467" y="1438994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websocket</a:t>
            </a:r>
            <a:endParaRPr lang="zh-CN" altLang="en-US" dirty="0"/>
          </a:p>
        </p:txBody>
      </p:sp>
      <p:sp>
        <p:nvSpPr>
          <p:cNvPr id="37" name="圆角矩形 36"/>
          <p:cNvSpPr/>
          <p:nvPr/>
        </p:nvSpPr>
        <p:spPr>
          <a:xfrm>
            <a:off x="3829102" y="2696016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spring-boot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3829102" y="3403836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spring-cloud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829102" y="4108509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mybatis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270771" y="2695225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quartz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270771" y="3396495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jsch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6270771" y="4108509"/>
            <a:ext cx="1853966" cy="4823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activiti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41625" y="84665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前端</a:t>
            </a:r>
            <a:endParaRPr lang="zh-CN" alt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1472494" y="517562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基础</a:t>
            </a:r>
            <a:endParaRPr lang="en-US" altLang="zh-CN" dirty="0" smtClean="0"/>
          </a:p>
          <a:p>
            <a:r>
              <a:rPr lang="zh-CN" altLang="en-US" dirty="0" smtClean="0"/>
              <a:t>设施</a:t>
            </a:r>
            <a:endParaRPr lang="zh-CN" altLang="en-US" dirty="0"/>
          </a:p>
        </p:txBody>
      </p:sp>
      <p:sp>
        <p:nvSpPr>
          <p:cNvPr id="33" name="圆角矩形 32"/>
          <p:cNvSpPr/>
          <p:nvPr/>
        </p:nvSpPr>
        <p:spPr>
          <a:xfrm>
            <a:off x="7301126" y="771525"/>
            <a:ext cx="1853966" cy="48236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Bootstrap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9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746058" y="1616328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r>
              <a:rPr lang="zh-CN" altLang="en-US" dirty="0">
                <a:solidFill>
                  <a:schemeClr val="tx1"/>
                </a:solidFill>
              </a:rPr>
              <a:t>服务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57596" y="4671962"/>
            <a:ext cx="7801761" cy="70886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002396" y="482971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网元</a:t>
            </a:r>
            <a:endParaRPr lang="zh-CN" altLang="en-US" sz="2000" dirty="0"/>
          </a:p>
        </p:txBody>
      </p:sp>
      <p:sp>
        <p:nvSpPr>
          <p:cNvPr id="31" name="圆角矩形 30"/>
          <p:cNvSpPr/>
          <p:nvPr/>
        </p:nvSpPr>
        <p:spPr>
          <a:xfrm>
            <a:off x="5032162" y="1616328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超级终端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8323217" y="1616328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方案实施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1" name="流程图: 磁盘 20"/>
          <p:cNvSpPr/>
          <p:nvPr/>
        </p:nvSpPr>
        <p:spPr>
          <a:xfrm>
            <a:off x="2938634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磁盘 49"/>
          <p:cNvSpPr/>
          <p:nvPr/>
        </p:nvSpPr>
        <p:spPr>
          <a:xfrm>
            <a:off x="4127498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磁盘 50"/>
          <p:cNvSpPr/>
          <p:nvPr/>
        </p:nvSpPr>
        <p:spPr>
          <a:xfrm>
            <a:off x="5311294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流程图: 磁盘 51"/>
          <p:cNvSpPr/>
          <p:nvPr/>
        </p:nvSpPr>
        <p:spPr>
          <a:xfrm>
            <a:off x="6495090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流程图: 磁盘 55"/>
          <p:cNvSpPr/>
          <p:nvPr/>
        </p:nvSpPr>
        <p:spPr>
          <a:xfrm>
            <a:off x="7682607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流程图: 磁盘 56"/>
          <p:cNvSpPr/>
          <p:nvPr/>
        </p:nvSpPr>
        <p:spPr>
          <a:xfrm>
            <a:off x="8864029" y="482296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1437005" y="3842158"/>
            <a:ext cx="126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ssh</a:t>
            </a:r>
            <a:r>
              <a:rPr lang="en-US" altLang="zh-CN" dirty="0" smtClean="0"/>
              <a:t>/telnet</a:t>
            </a:r>
            <a:endParaRPr lang="zh-CN" altLang="en-US" dirty="0"/>
          </a:p>
        </p:txBody>
      </p:sp>
      <p:sp>
        <p:nvSpPr>
          <p:cNvPr id="99" name="圆角矩形 98"/>
          <p:cNvSpPr/>
          <p:nvPr/>
        </p:nvSpPr>
        <p:spPr>
          <a:xfrm>
            <a:off x="5599173" y="3200433"/>
            <a:ext cx="1329656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东信指令平台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107097" y="3200432"/>
            <a:ext cx="648047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UDM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7933412" y="3209871"/>
            <a:ext cx="975223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行业网关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5538160" y="3107102"/>
            <a:ext cx="3439486" cy="51172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04" name="直接箭头连接符 103"/>
          <p:cNvCxnSpPr>
            <a:stCxn id="3" idx="2"/>
          </p:cNvCxnSpPr>
          <p:nvPr/>
        </p:nvCxnSpPr>
        <p:spPr>
          <a:xfrm flipH="1">
            <a:off x="2572373" y="2086113"/>
            <a:ext cx="1" cy="258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H="1">
            <a:off x="5251170" y="2068772"/>
            <a:ext cx="1" cy="258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4127498" y="3842158"/>
            <a:ext cx="126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ssh</a:t>
            </a:r>
            <a:r>
              <a:rPr lang="en-US" altLang="zh-CN" dirty="0" smtClean="0"/>
              <a:t>/telnet</a:t>
            </a:r>
            <a:endParaRPr lang="zh-CN" altLang="en-US" dirty="0"/>
          </a:p>
        </p:txBody>
      </p:sp>
      <p:cxnSp>
        <p:nvCxnSpPr>
          <p:cNvPr id="111" name="直接箭头连接符 110"/>
          <p:cNvCxnSpPr>
            <a:stCxn id="31" idx="2"/>
          </p:cNvCxnSpPr>
          <p:nvPr/>
        </p:nvCxnSpPr>
        <p:spPr>
          <a:xfrm flipH="1">
            <a:off x="5858476" y="2086113"/>
            <a:ext cx="2" cy="1020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H="1">
            <a:off x="8537274" y="2086113"/>
            <a:ext cx="2" cy="1020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H="1">
            <a:off x="9155913" y="2068772"/>
            <a:ext cx="1" cy="2585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8051361" y="3833488"/>
            <a:ext cx="126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ssh</a:t>
            </a:r>
            <a:r>
              <a:rPr lang="en-US" altLang="zh-CN" dirty="0" smtClean="0"/>
              <a:t>/telnet</a:t>
            </a:r>
            <a:endParaRPr lang="zh-CN" altLang="en-US" dirty="0"/>
          </a:p>
        </p:txBody>
      </p:sp>
      <p:cxnSp>
        <p:nvCxnSpPr>
          <p:cNvPr id="116" name="直接箭头连接符 115"/>
          <p:cNvCxnSpPr>
            <a:stCxn id="102" idx="2"/>
          </p:cNvCxnSpPr>
          <p:nvPr/>
        </p:nvCxnSpPr>
        <p:spPr>
          <a:xfrm>
            <a:off x="7257903" y="3618830"/>
            <a:ext cx="0" cy="1035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肘形连接符 117"/>
          <p:cNvCxnSpPr>
            <a:endCxn id="102" idx="1"/>
          </p:cNvCxnSpPr>
          <p:nvPr/>
        </p:nvCxnSpPr>
        <p:spPr>
          <a:xfrm>
            <a:off x="3129094" y="2086113"/>
            <a:ext cx="2409066" cy="1276853"/>
          </a:xfrm>
          <a:prstGeom prst="bentConnector3">
            <a:avLst>
              <a:gd name="adj1" fmla="val 9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98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516698" y="253471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r>
              <a:rPr lang="zh-CN" altLang="en-US" dirty="0">
                <a:solidFill>
                  <a:schemeClr val="tx1"/>
                </a:solidFill>
              </a:rPr>
              <a:t>服务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74858" y="1892995"/>
            <a:ext cx="3053593" cy="5452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网关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232246" y="3298736"/>
            <a:ext cx="3384958" cy="8146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指令通道服务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78474" y="5940112"/>
            <a:ext cx="7801761" cy="70886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423274" y="609786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网元</a:t>
            </a:r>
            <a:endParaRPr lang="zh-CN" altLang="en-US" sz="2000" dirty="0"/>
          </a:p>
        </p:txBody>
      </p:sp>
      <p:cxnSp>
        <p:nvCxnSpPr>
          <p:cNvPr id="33" name="直接箭头连接符 32"/>
          <p:cNvCxnSpPr>
            <a:stCxn id="3" idx="2"/>
            <a:endCxn id="11" idx="0"/>
          </p:cNvCxnSpPr>
          <p:nvPr/>
        </p:nvCxnSpPr>
        <p:spPr>
          <a:xfrm>
            <a:off x="3343014" y="723256"/>
            <a:ext cx="2558641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endCxn id="11" idx="0"/>
          </p:cNvCxnSpPr>
          <p:nvPr/>
        </p:nvCxnSpPr>
        <p:spPr>
          <a:xfrm flipH="1">
            <a:off x="5901655" y="723256"/>
            <a:ext cx="1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endCxn id="11" idx="0"/>
          </p:cNvCxnSpPr>
          <p:nvPr/>
        </p:nvCxnSpPr>
        <p:spPr>
          <a:xfrm flipH="1">
            <a:off x="5901655" y="723256"/>
            <a:ext cx="2558643" cy="116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5075340" y="253471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超级终端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608813" y="245606"/>
            <a:ext cx="1652631" cy="4697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方案实施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pPr algn="ctr"/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337106" y="3397304"/>
            <a:ext cx="3384958" cy="8146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指令通道服务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441966" y="3495872"/>
            <a:ext cx="3384958" cy="8146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指令通道服务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流程图: 磁盘 20"/>
          <p:cNvSpPr/>
          <p:nvPr/>
        </p:nvSpPr>
        <p:spPr>
          <a:xfrm>
            <a:off x="3359512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流程图: 磁盘 49"/>
          <p:cNvSpPr/>
          <p:nvPr/>
        </p:nvSpPr>
        <p:spPr>
          <a:xfrm>
            <a:off x="4548376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流程图: 磁盘 50"/>
          <p:cNvSpPr/>
          <p:nvPr/>
        </p:nvSpPr>
        <p:spPr>
          <a:xfrm>
            <a:off x="5732172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流程图: 磁盘 51"/>
          <p:cNvSpPr/>
          <p:nvPr/>
        </p:nvSpPr>
        <p:spPr>
          <a:xfrm>
            <a:off x="6915968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流程图: 磁盘 55"/>
          <p:cNvSpPr/>
          <p:nvPr/>
        </p:nvSpPr>
        <p:spPr>
          <a:xfrm>
            <a:off x="8103485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流程图: 磁盘 56"/>
          <p:cNvSpPr/>
          <p:nvPr/>
        </p:nvSpPr>
        <p:spPr>
          <a:xfrm>
            <a:off x="9284907" y="6091113"/>
            <a:ext cx="630123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11" idx="2"/>
            <a:endCxn id="19" idx="0"/>
          </p:cNvCxnSpPr>
          <p:nvPr/>
        </p:nvCxnSpPr>
        <p:spPr>
          <a:xfrm>
            <a:off x="5901655" y="2438280"/>
            <a:ext cx="23070" cy="860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3404027" y="4999502"/>
            <a:ext cx="1329656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东信指令平台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911951" y="4999501"/>
            <a:ext cx="648047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UDM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5738266" y="5008940"/>
            <a:ext cx="975223" cy="3225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行业网关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>
            <a:off x="7136276" y="4310304"/>
            <a:ext cx="0" cy="1610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7128935" y="4861093"/>
            <a:ext cx="126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ssh</a:t>
            </a:r>
            <a:r>
              <a:rPr lang="en-US" altLang="zh-CN" dirty="0" smtClean="0"/>
              <a:t>/telnet</a:t>
            </a:r>
            <a:endParaRPr lang="zh-CN" altLang="en-US" dirty="0"/>
          </a:p>
        </p:txBody>
      </p:sp>
      <p:sp>
        <p:nvSpPr>
          <p:cNvPr id="2" name="圆角矩形 1"/>
          <p:cNvSpPr/>
          <p:nvPr/>
        </p:nvSpPr>
        <p:spPr>
          <a:xfrm>
            <a:off x="3343014" y="4906171"/>
            <a:ext cx="3439486" cy="51172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endCxn id="2" idx="0"/>
          </p:cNvCxnSpPr>
          <p:nvPr/>
        </p:nvCxnSpPr>
        <p:spPr>
          <a:xfrm>
            <a:off x="5062757" y="4307785"/>
            <a:ext cx="0" cy="59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2" idx="2"/>
          </p:cNvCxnSpPr>
          <p:nvPr/>
        </p:nvCxnSpPr>
        <p:spPr>
          <a:xfrm>
            <a:off x="5062757" y="5417899"/>
            <a:ext cx="0" cy="522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25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6" descr="https://img.icons8.com/ultraviolet/1600/property-script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8" descr="https://img.icons8.com/ultraviolet/1600/property-script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612232" y="998290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675150" y="1115736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675150" y="1233182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675150" y="1346433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75150" y="145549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704675" y="2969703"/>
            <a:ext cx="2550253" cy="503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038525" y="3036815"/>
            <a:ext cx="1149292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核查任务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761687" y="3032621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484849" y="3032621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208011" y="3032621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1783" y="2969703"/>
            <a:ext cx="528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…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025004" y="444617"/>
            <a:ext cx="159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采集解析脚本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566873" y="444617"/>
            <a:ext cx="159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核查制作脚本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3330429" y="1283299"/>
            <a:ext cx="2206304" cy="1837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3389152" y="2491530"/>
            <a:ext cx="2147581" cy="69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3389152" y="3280095"/>
            <a:ext cx="2097248" cy="61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3330429" y="3338818"/>
            <a:ext cx="2206304" cy="215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5612232" y="2256638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5675150" y="2374084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675150" y="249153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675150" y="260478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675150" y="271383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612232" y="3661578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5675150" y="3779024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675150" y="389647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675150" y="400972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675150" y="411877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5612232" y="5263875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675150" y="538132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5675150" y="5498767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675150" y="561201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5675150" y="5721075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8162490" y="998290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8225408" y="1115736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8225408" y="1233182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8225408" y="1346433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8225408" y="145549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8162490" y="2256638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/>
          <p:cNvCxnSpPr/>
          <p:nvPr/>
        </p:nvCxnSpPr>
        <p:spPr>
          <a:xfrm>
            <a:off x="8225408" y="2374084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8225408" y="249153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25408" y="260478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225408" y="271383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8162490" y="3661578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>
            <a:off x="8225408" y="3779024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8225408" y="389647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8225408" y="400972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8225408" y="411877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8162490" y="5263875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8225408" y="538132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8225408" y="5498767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8225408" y="5612018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8225408" y="5721075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4236438" y="1548861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 smtClean="0"/>
              <a:t>1</a:t>
            </a:r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4236438" y="2420115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79" name="文本框 78"/>
          <p:cNvSpPr txBox="1"/>
          <p:nvPr/>
        </p:nvSpPr>
        <p:spPr>
          <a:xfrm>
            <a:off x="4236438" y="3245042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 smtClean="0"/>
              <a:t>3</a:t>
            </a:r>
            <a:endParaRPr lang="zh-CN" altLang="en-US" sz="1600" dirty="0"/>
          </a:p>
        </p:txBody>
      </p:sp>
      <p:sp>
        <p:nvSpPr>
          <p:cNvPr id="80" name="文本框 79"/>
          <p:cNvSpPr txBox="1"/>
          <p:nvPr/>
        </p:nvSpPr>
        <p:spPr>
          <a:xfrm>
            <a:off x="4236438" y="4016613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/>
              <a:t>n</a:t>
            </a:r>
            <a:endParaRPr lang="zh-CN" altLang="en-US" sz="1600" dirty="0"/>
          </a:p>
        </p:txBody>
      </p:sp>
      <p:cxnSp>
        <p:nvCxnSpPr>
          <p:cNvPr id="73" name="直接箭头连接符 72"/>
          <p:cNvCxnSpPr/>
          <p:nvPr/>
        </p:nvCxnSpPr>
        <p:spPr>
          <a:xfrm>
            <a:off x="6107185" y="1233182"/>
            <a:ext cx="1988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6115574" y="2499919"/>
            <a:ext cx="1988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6107185" y="3896470"/>
            <a:ext cx="1988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107185" y="5519523"/>
            <a:ext cx="1988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1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13113" y="1090569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576031" y="1208015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9576031" y="1325461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576031" y="1438712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9576031" y="1547769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922806" y="3081457"/>
            <a:ext cx="2550253" cy="503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256656" y="3148569"/>
            <a:ext cx="1149292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核查任务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979818" y="3144375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702980" y="3144375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426142" y="3144375"/>
            <a:ext cx="209725" cy="377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9914" y="3081457"/>
            <a:ext cx="528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…</a:t>
            </a:r>
            <a:endParaRPr lang="zh-CN" altLang="en-US" sz="28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925885" y="536896"/>
            <a:ext cx="159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核查制作脚本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7231310" y="1375578"/>
            <a:ext cx="2206304" cy="1837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7290033" y="2583809"/>
            <a:ext cx="2147581" cy="696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7290033" y="3372374"/>
            <a:ext cx="2097248" cy="61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7231310" y="3431097"/>
            <a:ext cx="2206304" cy="215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9513113" y="2348917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9576031" y="2466363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9576031" y="2583809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9576031" y="269706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576031" y="2806117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9513113" y="3753857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9576031" y="3871303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576031" y="3988749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9576031" y="410200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576031" y="4211057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9513113" y="5356154"/>
            <a:ext cx="419451" cy="524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9576031" y="5473600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576031" y="5591046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9576031" y="5704297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9576031" y="5813354"/>
            <a:ext cx="29361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8137319" y="1641140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 smtClean="0"/>
              <a:t>1</a:t>
            </a:r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8137319" y="2512394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79" name="文本框 78"/>
          <p:cNvSpPr txBox="1"/>
          <p:nvPr/>
        </p:nvSpPr>
        <p:spPr>
          <a:xfrm>
            <a:off x="8137319" y="3337321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 smtClean="0"/>
              <a:t>3</a:t>
            </a:r>
            <a:endParaRPr lang="zh-CN" altLang="en-US" sz="1600" dirty="0"/>
          </a:p>
        </p:txBody>
      </p:sp>
      <p:sp>
        <p:nvSpPr>
          <p:cNvPr id="80" name="文本框 79"/>
          <p:cNvSpPr txBox="1"/>
          <p:nvPr/>
        </p:nvSpPr>
        <p:spPr>
          <a:xfrm>
            <a:off x="8137319" y="4108892"/>
            <a:ext cx="788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场景</a:t>
            </a:r>
            <a:r>
              <a:rPr lang="en-US" altLang="zh-CN" sz="1600" dirty="0"/>
              <a:t>n</a:t>
            </a:r>
            <a:endParaRPr lang="zh-CN" altLang="en-US" sz="1600" dirty="0"/>
          </a:p>
        </p:txBody>
      </p:sp>
      <p:sp>
        <p:nvSpPr>
          <p:cNvPr id="5" name="圆角矩形 4"/>
          <p:cNvSpPr/>
          <p:nvPr/>
        </p:nvSpPr>
        <p:spPr>
          <a:xfrm>
            <a:off x="4395839" y="3075711"/>
            <a:ext cx="1837192" cy="523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数据服务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sz="1400" dirty="0" smtClean="0">
                <a:solidFill>
                  <a:schemeClr val="tx1"/>
                </a:solidFill>
              </a:rPr>
              <a:t>采集解析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3473059" y="3245045"/>
            <a:ext cx="922780" cy="150999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>
            <a:off x="6233031" y="3257627"/>
            <a:ext cx="922780" cy="150999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6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局数据培训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Json</a:t>
            </a:r>
            <a:r>
              <a:rPr lang="zh-CN" altLang="en-US" dirty="0"/>
              <a:t>解析</a:t>
            </a:r>
            <a:endParaRPr lang="en-US" altLang="zh-CN" dirty="0" smtClean="0"/>
          </a:p>
          <a:p>
            <a:r>
              <a:rPr lang="zh-CN" altLang="en-US" dirty="0" smtClean="0"/>
              <a:t>标准数据管理</a:t>
            </a:r>
            <a:endParaRPr lang="en-US" altLang="zh-CN" dirty="0" smtClean="0"/>
          </a:p>
          <a:p>
            <a:r>
              <a:rPr lang="zh-CN" altLang="en-US" dirty="0" smtClean="0"/>
              <a:t>公共解析、采集、核查</a:t>
            </a:r>
            <a:endParaRPr lang="en-US" altLang="zh-CN" dirty="0" smtClean="0"/>
          </a:p>
          <a:p>
            <a:r>
              <a:rPr lang="zh-CN" altLang="en-US" dirty="0" smtClean="0"/>
              <a:t>自动化测试框架</a:t>
            </a:r>
            <a:endParaRPr lang="en-US" altLang="zh-CN" dirty="0" smtClean="0"/>
          </a:p>
          <a:p>
            <a:r>
              <a:rPr lang="en-US" altLang="zh-CN" dirty="0" smtClean="0"/>
              <a:t>Groovy</a:t>
            </a:r>
          </a:p>
          <a:p>
            <a:r>
              <a:rPr lang="en-US" altLang="zh-CN" dirty="0"/>
              <a:t>demo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81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p9.itc.cn/q_70/images03/20220321/833ad36e586241dba196e15fdae38260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82" y="3733801"/>
            <a:ext cx="2286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云形标注 4"/>
          <p:cNvSpPr/>
          <p:nvPr/>
        </p:nvSpPr>
        <p:spPr>
          <a:xfrm>
            <a:off x="2709644" y="1451296"/>
            <a:ext cx="4622333" cy="2768366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2" name="Picture 8" descr="https://omo-oss-image.thefastimg.com/portal-saas/new2023112918234435329/cms/image/ca7bd29d-34b1-4e9c-9c53-f2ae8cdc31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839" y="1828801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767971" y="387132"/>
            <a:ext cx="4555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1">
                    <a:lumMod val="75000"/>
                  </a:schemeClr>
                </a:solidFill>
              </a:rPr>
              <a:t>开发者视角的中国移动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77060" y="4876801"/>
            <a:ext cx="4555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accent1">
                    <a:lumMod val="75000"/>
                  </a:schemeClr>
                </a:solidFill>
              </a:rPr>
              <a:t>巨型的分布式系统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4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全国业务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4915950" y="1208015"/>
            <a:ext cx="1610686" cy="128351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集团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4" idx="3"/>
          </p:cNvCxnSpPr>
          <p:nvPr/>
        </p:nvCxnSpPr>
        <p:spPr>
          <a:xfrm flipH="1">
            <a:off x="2063693" y="2303564"/>
            <a:ext cx="3088137" cy="1496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1111542" y="3800213"/>
            <a:ext cx="1904301" cy="6128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省内局数据系统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4" idx="4"/>
            <a:endCxn id="13" idx="0"/>
          </p:cNvCxnSpPr>
          <p:nvPr/>
        </p:nvCxnSpPr>
        <p:spPr>
          <a:xfrm>
            <a:off x="5721293" y="2491530"/>
            <a:ext cx="0" cy="130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16" idx="0"/>
          </p:cNvCxnSpPr>
          <p:nvPr/>
        </p:nvCxnSpPr>
        <p:spPr>
          <a:xfrm>
            <a:off x="6282366" y="2303564"/>
            <a:ext cx="3096527" cy="1496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4769142" y="3800213"/>
            <a:ext cx="1904301" cy="6128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省内局数据系统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426742" y="3800213"/>
            <a:ext cx="1904301" cy="6128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省内局数据系统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流程图: 磁盘 17"/>
          <p:cNvSpPr/>
          <p:nvPr/>
        </p:nvSpPr>
        <p:spPr>
          <a:xfrm>
            <a:off x="1499393" y="5450442"/>
            <a:ext cx="1128598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>
            <a:stCxn id="7" idx="2"/>
            <a:endCxn id="18" idx="1"/>
          </p:cNvCxnSpPr>
          <p:nvPr/>
        </p:nvCxnSpPr>
        <p:spPr>
          <a:xfrm flipH="1">
            <a:off x="2063692" y="4413089"/>
            <a:ext cx="1" cy="10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图: 磁盘 20"/>
          <p:cNvSpPr/>
          <p:nvPr/>
        </p:nvSpPr>
        <p:spPr>
          <a:xfrm>
            <a:off x="5151830" y="5450442"/>
            <a:ext cx="1128598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endCxn id="21" idx="1"/>
          </p:cNvCxnSpPr>
          <p:nvPr/>
        </p:nvCxnSpPr>
        <p:spPr>
          <a:xfrm flipH="1">
            <a:off x="5716129" y="4413089"/>
            <a:ext cx="1" cy="10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流程图: 磁盘 22"/>
          <p:cNvSpPr/>
          <p:nvPr/>
        </p:nvSpPr>
        <p:spPr>
          <a:xfrm>
            <a:off x="8980714" y="5450442"/>
            <a:ext cx="1128598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endCxn id="23" idx="1"/>
          </p:cNvCxnSpPr>
          <p:nvPr/>
        </p:nvCxnSpPr>
        <p:spPr>
          <a:xfrm flipH="1">
            <a:off x="9545013" y="4413089"/>
            <a:ext cx="1" cy="10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154260" y="27765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工单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5393932" y="28672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工单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710472" y="27765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工单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8611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省内业务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4915950" y="1208015"/>
            <a:ext cx="1610686" cy="128351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省内编排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4" idx="4"/>
            <a:endCxn id="9" idx="0"/>
          </p:cNvCxnSpPr>
          <p:nvPr/>
        </p:nvCxnSpPr>
        <p:spPr>
          <a:xfrm>
            <a:off x="5721293" y="2491530"/>
            <a:ext cx="0" cy="130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769142" y="3800213"/>
            <a:ext cx="1904301" cy="6128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省内局数据系统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流程图: 磁盘 12"/>
          <p:cNvSpPr/>
          <p:nvPr/>
        </p:nvSpPr>
        <p:spPr>
          <a:xfrm>
            <a:off x="5151830" y="5450442"/>
            <a:ext cx="1128598" cy="45929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endCxn id="13" idx="1"/>
          </p:cNvCxnSpPr>
          <p:nvPr/>
        </p:nvCxnSpPr>
        <p:spPr>
          <a:xfrm flipH="1">
            <a:off x="5716129" y="4413089"/>
            <a:ext cx="1" cy="103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151830" y="29122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工单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2586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27677" y="1350627"/>
            <a:ext cx="1686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/>
              <a:t>{…}</a:t>
            </a:r>
            <a:endParaRPr lang="zh-CN" altLang="en-US" sz="4400" b="1" dirty="0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3246540" y="2120068"/>
            <a:ext cx="2315361" cy="147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5960378" y="2120068"/>
            <a:ext cx="1" cy="147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270770" y="2120067"/>
            <a:ext cx="2189526" cy="147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441196" y="3598876"/>
            <a:ext cx="1610687" cy="3691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std_table_xxx1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55034" y="3598875"/>
            <a:ext cx="1610687" cy="3691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std_table_xxx2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54952" y="3598875"/>
            <a:ext cx="1610687" cy="3691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std_table_xxx3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890782" y="3967992"/>
            <a:ext cx="536895" cy="721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柱形 15"/>
          <p:cNvSpPr/>
          <p:nvPr/>
        </p:nvSpPr>
        <p:spPr>
          <a:xfrm rot="13309088">
            <a:off x="4573076" y="4612904"/>
            <a:ext cx="237497" cy="58868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978709" y="3967992"/>
            <a:ext cx="20973" cy="80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柱形 18"/>
          <p:cNvSpPr/>
          <p:nvPr/>
        </p:nvSpPr>
        <p:spPr>
          <a:xfrm rot="10800000">
            <a:off x="5880933" y="4773336"/>
            <a:ext cx="237497" cy="568107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endCxn id="22" idx="3"/>
          </p:cNvCxnSpPr>
          <p:nvPr/>
        </p:nvCxnSpPr>
        <p:spPr>
          <a:xfrm>
            <a:off x="6637311" y="3955530"/>
            <a:ext cx="508062" cy="698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柱形 21"/>
          <p:cNvSpPr/>
          <p:nvPr/>
        </p:nvSpPr>
        <p:spPr>
          <a:xfrm rot="8573451">
            <a:off x="7198004" y="4596172"/>
            <a:ext cx="237497" cy="568107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4118995" y="5137627"/>
            <a:ext cx="373873" cy="457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338818" y="5595457"/>
            <a:ext cx="1560353" cy="322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vtl_table_xxx1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219504" y="5595457"/>
            <a:ext cx="1560353" cy="322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vtl_table_xxx2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接箭头连接符 26"/>
          <p:cNvCxnSpPr>
            <a:endCxn id="26" idx="0"/>
          </p:cNvCxnSpPr>
          <p:nvPr/>
        </p:nvCxnSpPr>
        <p:spPr>
          <a:xfrm>
            <a:off x="5999680" y="5366542"/>
            <a:ext cx="1" cy="22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100189" y="5595457"/>
            <a:ext cx="1560353" cy="3221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vtl_table_xxx3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>
            <a:stCxn id="22" idx="1"/>
            <a:endCxn id="29" idx="0"/>
          </p:cNvCxnSpPr>
          <p:nvPr/>
        </p:nvCxnSpPr>
        <p:spPr>
          <a:xfrm>
            <a:off x="7488132" y="5106755"/>
            <a:ext cx="392234" cy="488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1427978" y="3973318"/>
            <a:ext cx="1801786" cy="1205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748280" y="5208773"/>
            <a:ext cx="1686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…</a:t>
            </a:r>
            <a:endParaRPr lang="zh-CN" altLang="en-US" sz="3600" b="1" dirty="0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8588641" y="3950041"/>
            <a:ext cx="2120266" cy="1401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0778167" y="5366542"/>
            <a:ext cx="1686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/>
              <a:t>…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385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78385" y="67010"/>
            <a:ext cx="2843868" cy="1325563"/>
          </a:xfrm>
        </p:spPr>
        <p:txBody>
          <a:bodyPr/>
          <a:lstStyle/>
          <a:p>
            <a:r>
              <a:rPr lang="en-US" altLang="zh-CN" dirty="0" err="1" smtClean="0"/>
              <a:t>Json</a:t>
            </a:r>
            <a:r>
              <a:rPr lang="en-US" altLang="zh-CN" dirty="0" smtClean="0"/>
              <a:t>-flatter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43949" y="1392573"/>
            <a:ext cx="448071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[{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"cats" : [{</a:t>
            </a:r>
          </a:p>
          <a:p>
            <a:r>
              <a:rPr lang="en-US" altLang="zh-CN" sz="1600" dirty="0"/>
              <a:t>			"id" : 1,</a:t>
            </a:r>
          </a:p>
          <a:p>
            <a:r>
              <a:rPr lang="en-US" altLang="zh-CN" sz="1600" dirty="0"/>
              <a:t>			"name" : "mao1",</a:t>
            </a:r>
          </a:p>
          <a:p>
            <a:r>
              <a:rPr lang="en-US" altLang="zh-CN" sz="1600" dirty="0"/>
              <a:t>			"color" : "white"</a:t>
            </a:r>
          </a:p>
          <a:p>
            <a:r>
              <a:rPr lang="en-US" altLang="zh-CN" sz="1600" dirty="0"/>
              <a:t>		}]</a:t>
            </a:r>
          </a:p>
          <a:p>
            <a:r>
              <a:rPr lang="en-US" altLang="zh-CN" sz="1600" dirty="0"/>
              <a:t>},{</a:t>
            </a:r>
          </a:p>
          <a:p>
            <a:r>
              <a:rPr lang="en-US" altLang="zh-CN" sz="1600" dirty="0"/>
              <a:t>	"id" : 2,</a:t>
            </a:r>
          </a:p>
          <a:p>
            <a:r>
              <a:rPr lang="en-US" altLang="zh-CN" sz="1600" dirty="0"/>
              <a:t>	"name" : "tom",</a:t>
            </a:r>
          </a:p>
          <a:p>
            <a:r>
              <a:rPr lang="en-US" altLang="zh-CN" sz="1600" dirty="0"/>
              <a:t>	"cats" : [{</a:t>
            </a:r>
          </a:p>
          <a:p>
            <a:r>
              <a:rPr lang="en-US" altLang="zh-CN" sz="1600" dirty="0"/>
              <a:t>			"id" : 2,</a:t>
            </a:r>
          </a:p>
          <a:p>
            <a:r>
              <a:rPr lang="en-US" altLang="zh-CN" sz="1600" dirty="0"/>
              <a:t>			"name" : "mao2",</a:t>
            </a:r>
          </a:p>
          <a:p>
            <a:r>
              <a:rPr lang="en-US" altLang="zh-CN" sz="1600" dirty="0"/>
              <a:t>			"color" : "black"</a:t>
            </a:r>
          </a:p>
          <a:p>
            <a:r>
              <a:rPr lang="en-US" altLang="zh-CN" sz="1600" dirty="0"/>
              <a:t>		},{</a:t>
            </a:r>
          </a:p>
          <a:p>
            <a:r>
              <a:rPr lang="en-US" altLang="zh-CN" sz="1600" dirty="0"/>
              <a:t>			"id" : 3,</a:t>
            </a:r>
          </a:p>
          <a:p>
            <a:r>
              <a:rPr lang="en-US" altLang="zh-CN" sz="1600" dirty="0"/>
              <a:t>			"name" : "mao3",</a:t>
            </a:r>
          </a:p>
          <a:p>
            <a:r>
              <a:rPr lang="en-US" altLang="zh-CN" sz="1600" dirty="0"/>
              <a:t>			"color" : "orange"</a:t>
            </a:r>
          </a:p>
          <a:p>
            <a:r>
              <a:rPr lang="en-US" altLang="zh-CN" sz="1600" dirty="0"/>
              <a:t>		}]</a:t>
            </a:r>
          </a:p>
          <a:p>
            <a:r>
              <a:rPr lang="en-US" altLang="zh-CN" sz="1600" dirty="0"/>
              <a:t>}]</a:t>
            </a:r>
          </a:p>
        </p:txBody>
      </p:sp>
      <p:sp>
        <p:nvSpPr>
          <p:cNvPr id="5" name="右箭头 4"/>
          <p:cNvSpPr/>
          <p:nvPr/>
        </p:nvSpPr>
        <p:spPr>
          <a:xfrm>
            <a:off x="4932727" y="3699545"/>
            <a:ext cx="956345" cy="444616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933301"/>
              </p:ext>
            </p:extLst>
          </p:nvPr>
        </p:nvGraphicFramePr>
        <p:xfrm>
          <a:off x="6157518" y="2063692"/>
          <a:ext cx="56131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584">
                  <a:extLst>
                    <a:ext uri="{9D8B030D-6E8A-4147-A177-3AD203B41FA5}">
                      <a16:colId xmlns:a16="http://schemas.microsoft.com/office/drawing/2014/main" val="4085187784"/>
                    </a:ext>
                  </a:extLst>
                </a:gridCol>
                <a:gridCol w="2806584">
                  <a:extLst>
                    <a:ext uri="{9D8B030D-6E8A-4147-A177-3AD203B41FA5}">
                      <a16:colId xmlns:a16="http://schemas.microsoft.com/office/drawing/2014/main" val="3884851715"/>
                    </a:ext>
                  </a:extLst>
                </a:gridCol>
              </a:tblGrid>
              <a:tr h="3629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577193"/>
                  </a:ext>
                </a:extLst>
              </a:tr>
              <a:tr h="3629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josh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25152"/>
                  </a:ext>
                </a:extLst>
              </a:tr>
              <a:tr h="3629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tom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55761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05101" y="16275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Host</a:t>
            </a:r>
            <a:r>
              <a:rPr lang="zh-CN" altLang="en-US" dirty="0" smtClean="0"/>
              <a:t>表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05101" y="4144161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Cat</a:t>
            </a:r>
            <a:r>
              <a:rPr lang="zh-CN" altLang="en-US" dirty="0" smtClean="0"/>
              <a:t>表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82740"/>
              </p:ext>
            </p:extLst>
          </p:nvPr>
        </p:nvGraphicFramePr>
        <p:xfrm>
          <a:off x="6157518" y="4689554"/>
          <a:ext cx="5613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292">
                  <a:extLst>
                    <a:ext uri="{9D8B030D-6E8A-4147-A177-3AD203B41FA5}">
                      <a16:colId xmlns:a16="http://schemas.microsoft.com/office/drawing/2014/main" val="1624997010"/>
                    </a:ext>
                  </a:extLst>
                </a:gridCol>
                <a:gridCol w="1403292">
                  <a:extLst>
                    <a:ext uri="{9D8B030D-6E8A-4147-A177-3AD203B41FA5}">
                      <a16:colId xmlns:a16="http://schemas.microsoft.com/office/drawing/2014/main" val="1243974080"/>
                    </a:ext>
                  </a:extLst>
                </a:gridCol>
                <a:gridCol w="1403292">
                  <a:extLst>
                    <a:ext uri="{9D8B030D-6E8A-4147-A177-3AD203B41FA5}">
                      <a16:colId xmlns:a16="http://schemas.microsoft.com/office/drawing/2014/main" val="3663610076"/>
                    </a:ext>
                  </a:extLst>
                </a:gridCol>
                <a:gridCol w="1403292">
                  <a:extLst>
                    <a:ext uri="{9D8B030D-6E8A-4147-A177-3AD203B41FA5}">
                      <a16:colId xmlns:a16="http://schemas.microsoft.com/office/drawing/2014/main" val="3705132937"/>
                    </a:ext>
                  </a:extLst>
                </a:gridCol>
              </a:tblGrid>
              <a:tr h="3636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color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host_id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102389"/>
                  </a:ext>
                </a:extLst>
              </a:tr>
              <a:tr h="3636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mao1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white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89050"/>
                  </a:ext>
                </a:extLst>
              </a:tr>
              <a:tr h="3636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mao2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black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77718"/>
                  </a:ext>
                </a:extLst>
              </a:tr>
              <a:tr h="3636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mao3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orange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32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89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424419" y="268449"/>
            <a:ext cx="3406702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"cats" : [{</a:t>
            </a:r>
          </a:p>
          <a:p>
            <a:r>
              <a:rPr lang="en-US" altLang="zh-CN" sz="1600" dirty="0"/>
              <a:t>		"id" : 1,</a:t>
            </a:r>
          </a:p>
          <a:p>
            <a:r>
              <a:rPr lang="en-US" altLang="zh-CN" sz="1600" dirty="0"/>
              <a:t>		"color" : "white"</a:t>
            </a:r>
          </a:p>
          <a:p>
            <a:r>
              <a:rPr lang="en-US" altLang="zh-CN" sz="1600" dirty="0"/>
              <a:t>	}]</a:t>
            </a:r>
          </a:p>
          <a:p>
            <a:r>
              <a:rPr lang="en-US" altLang="zh-CN" sz="1600" dirty="0"/>
              <a:t>}</a:t>
            </a:r>
          </a:p>
        </p:txBody>
      </p:sp>
      <p:cxnSp>
        <p:nvCxnSpPr>
          <p:cNvPr id="16" name="曲线连接符 15"/>
          <p:cNvCxnSpPr/>
          <p:nvPr/>
        </p:nvCxnSpPr>
        <p:spPr>
          <a:xfrm>
            <a:off x="3640822" y="729842"/>
            <a:ext cx="738231" cy="520118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箭头 18"/>
          <p:cNvSpPr/>
          <p:nvPr/>
        </p:nvSpPr>
        <p:spPr>
          <a:xfrm>
            <a:off x="6194398" y="1077192"/>
            <a:ext cx="956345" cy="444616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860485" y="637781"/>
            <a:ext cx="2483372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</a:t>
            </a:r>
            <a:r>
              <a:rPr lang="en-US" altLang="zh-CN" sz="1600" dirty="0" err="1"/>
              <a:t>host_id</a:t>
            </a:r>
            <a:r>
              <a:rPr lang="en-US" altLang="zh-CN" sz="1600" dirty="0"/>
              <a:t>" : 1,</a:t>
            </a:r>
          </a:p>
          <a:p>
            <a:r>
              <a:rPr lang="en-US" altLang="zh-CN" sz="1600" dirty="0"/>
              <a:t>	"color" : "white"</a:t>
            </a:r>
          </a:p>
          <a:p>
            <a:r>
              <a:rPr lang="en-US" altLang="zh-CN" sz="1600" dirty="0"/>
              <a:t>}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30726" y="1060143"/>
            <a:ext cx="1083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merge</a:t>
            </a:r>
            <a:endParaRPr lang="zh-CN" altLang="en-US" sz="240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2424419" y="2644961"/>
            <a:ext cx="3406702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"cats" : </a:t>
            </a:r>
            <a:r>
              <a:rPr lang="en-US" altLang="zh-CN" sz="1600" dirty="0" smtClean="0"/>
              <a:t>{</a:t>
            </a:r>
            <a:endParaRPr lang="en-US" altLang="zh-CN" sz="1600" dirty="0"/>
          </a:p>
          <a:p>
            <a:r>
              <a:rPr lang="en-US" altLang="zh-CN" sz="1600" dirty="0"/>
              <a:t>		"id" : 1,</a:t>
            </a:r>
          </a:p>
          <a:p>
            <a:r>
              <a:rPr lang="en-US" altLang="zh-CN" sz="1600" dirty="0"/>
              <a:t>		"color" : "white"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smtClean="0"/>
              <a:t>}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</a:p>
        </p:txBody>
      </p:sp>
      <p:sp>
        <p:nvSpPr>
          <p:cNvPr id="41" name="右箭头 40"/>
          <p:cNvSpPr/>
          <p:nvPr/>
        </p:nvSpPr>
        <p:spPr>
          <a:xfrm>
            <a:off x="6194398" y="3453704"/>
            <a:ext cx="956345" cy="444616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860485" y="2891182"/>
            <a:ext cx="290175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"</a:t>
            </a:r>
            <a:r>
              <a:rPr lang="en-US" altLang="zh-CN" sz="1600" dirty="0" smtClean="0"/>
              <a:t>cat.id" </a:t>
            </a:r>
            <a:r>
              <a:rPr lang="en-US" altLang="zh-CN" sz="1600" dirty="0"/>
              <a:t>: </a:t>
            </a:r>
            <a:r>
              <a:rPr lang="en-US" altLang="zh-CN" sz="1600" dirty="0" smtClean="0"/>
              <a:t>1,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en-US" altLang="zh-CN" sz="1600" dirty="0" smtClean="0"/>
              <a:t>"</a:t>
            </a:r>
            <a:r>
              <a:rPr lang="en-US" altLang="zh-CN" sz="1600" dirty="0" err="1" smtClean="0"/>
              <a:t>cat.color</a:t>
            </a:r>
            <a:r>
              <a:rPr lang="en-US" altLang="zh-CN" sz="1600" dirty="0" smtClean="0"/>
              <a:t> " </a:t>
            </a:r>
            <a:r>
              <a:rPr lang="en-US" altLang="zh-CN" sz="1600" dirty="0"/>
              <a:t>: "white"</a:t>
            </a:r>
          </a:p>
          <a:p>
            <a:r>
              <a:rPr lang="en-US" altLang="zh-CN" sz="1600" dirty="0" smtClean="0"/>
              <a:t>}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630726" y="3436655"/>
            <a:ext cx="641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flat</a:t>
            </a:r>
            <a:endParaRPr lang="zh-CN" altLang="en-US" sz="2400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2424419" y="5021473"/>
            <a:ext cx="332975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"</a:t>
            </a:r>
            <a:r>
              <a:rPr lang="en-US" altLang="zh-CN" sz="1600" dirty="0" smtClean="0"/>
              <a:t>cats</a:t>
            </a:r>
            <a:r>
              <a:rPr lang="en-US" altLang="zh-CN" sz="1600" dirty="0"/>
              <a:t>"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: </a:t>
            </a:r>
            <a:r>
              <a:rPr lang="en-US" altLang="zh-CN" sz="1600" dirty="0" smtClean="0"/>
              <a:t>["mao1", "mao2"]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</a:p>
        </p:txBody>
      </p:sp>
      <p:sp>
        <p:nvSpPr>
          <p:cNvPr id="46" name="右箭头 45"/>
          <p:cNvSpPr/>
          <p:nvPr/>
        </p:nvSpPr>
        <p:spPr>
          <a:xfrm>
            <a:off x="6194398" y="5469410"/>
            <a:ext cx="956345" cy="444616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7860485" y="5029999"/>
            <a:ext cx="3012363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"id" : 1,</a:t>
            </a:r>
          </a:p>
          <a:p>
            <a:r>
              <a:rPr lang="en-US" altLang="zh-CN" sz="1600" dirty="0"/>
              <a:t>	"name" : "josh",</a:t>
            </a:r>
          </a:p>
          <a:p>
            <a:r>
              <a:rPr lang="en-US" altLang="zh-CN" sz="1600" dirty="0"/>
              <a:t>	“cats” : </a:t>
            </a:r>
            <a:r>
              <a:rPr lang="en-US" altLang="zh-CN" sz="1600" dirty="0" smtClean="0"/>
              <a:t>"mao1,mao2"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30726" y="5452361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join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59747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标准表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552359"/>
              </p:ext>
            </p:extLst>
          </p:nvPr>
        </p:nvGraphicFramePr>
        <p:xfrm>
          <a:off x="1562212" y="1801846"/>
          <a:ext cx="961541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570">
                  <a:extLst>
                    <a:ext uri="{9D8B030D-6E8A-4147-A177-3AD203B41FA5}">
                      <a16:colId xmlns:a16="http://schemas.microsoft.com/office/drawing/2014/main" val="2418761976"/>
                    </a:ext>
                  </a:extLst>
                </a:gridCol>
                <a:gridCol w="1602570">
                  <a:extLst>
                    <a:ext uri="{9D8B030D-6E8A-4147-A177-3AD203B41FA5}">
                      <a16:colId xmlns:a16="http://schemas.microsoft.com/office/drawing/2014/main" val="864969216"/>
                    </a:ext>
                  </a:extLst>
                </a:gridCol>
                <a:gridCol w="2141783">
                  <a:extLst>
                    <a:ext uri="{9D8B030D-6E8A-4147-A177-3AD203B41FA5}">
                      <a16:colId xmlns:a16="http://schemas.microsoft.com/office/drawing/2014/main" val="4163341247"/>
                    </a:ext>
                  </a:extLst>
                </a:gridCol>
                <a:gridCol w="1278520">
                  <a:extLst>
                    <a:ext uri="{9D8B030D-6E8A-4147-A177-3AD203B41FA5}">
                      <a16:colId xmlns:a16="http://schemas.microsoft.com/office/drawing/2014/main" val="1636110324"/>
                    </a:ext>
                  </a:extLst>
                </a:gridCol>
                <a:gridCol w="1568741">
                  <a:extLst>
                    <a:ext uri="{9D8B030D-6E8A-4147-A177-3AD203B41FA5}">
                      <a16:colId xmlns:a16="http://schemas.microsoft.com/office/drawing/2014/main" val="4220995994"/>
                    </a:ext>
                  </a:extLst>
                </a:gridCol>
                <a:gridCol w="1421234">
                  <a:extLst>
                    <a:ext uri="{9D8B030D-6E8A-4147-A177-3AD203B41FA5}">
                      <a16:colId xmlns:a16="http://schemas.microsoft.com/office/drawing/2014/main" val="3805061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xxx1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xxx2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operation_flag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system_num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48203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635854" y="3288484"/>
            <a:ext cx="97179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 smtClean="0"/>
              <a:t>operation_flag</a:t>
            </a:r>
            <a:r>
              <a:rPr lang="zh-CN" altLang="en-US" sz="2400" dirty="0"/>
              <a:t>：</a:t>
            </a:r>
            <a:r>
              <a:rPr lang="zh-CN" altLang="en-US" sz="2400" dirty="0" smtClean="0"/>
              <a:t>工单操作类型，新增、修改或删除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 smtClean="0"/>
              <a:t>post_flag</a:t>
            </a:r>
            <a:r>
              <a:rPr lang="zh-CN" altLang="en-US" sz="2400" dirty="0"/>
              <a:t>：</a:t>
            </a:r>
            <a:r>
              <a:rPr lang="zh-CN" altLang="en-US" sz="2400" dirty="0" smtClean="0"/>
              <a:t>工单后置标识，默认为空，被修改或删除后修改为删除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 smtClean="0"/>
              <a:t>system_num</a:t>
            </a:r>
            <a:r>
              <a:rPr lang="zh-CN" altLang="en-US" sz="2400" dirty="0" smtClean="0"/>
              <a:t>：工单号，必须为数字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 smtClean="0"/>
              <a:t>post_num</a:t>
            </a:r>
            <a:r>
              <a:rPr lang="zh-CN" altLang="en-US" sz="2400" dirty="0" smtClean="0"/>
              <a:t>：后置工单号，即导致此数据被删除的工单号</a:t>
            </a:r>
            <a:endParaRPr lang="en-US" altLang="zh-CN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1964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标准表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27423"/>
              </p:ext>
            </p:extLst>
          </p:nvPr>
        </p:nvGraphicFramePr>
        <p:xfrm>
          <a:off x="2224941" y="1782967"/>
          <a:ext cx="961541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570">
                  <a:extLst>
                    <a:ext uri="{9D8B030D-6E8A-4147-A177-3AD203B41FA5}">
                      <a16:colId xmlns:a16="http://schemas.microsoft.com/office/drawing/2014/main" val="2418761976"/>
                    </a:ext>
                  </a:extLst>
                </a:gridCol>
                <a:gridCol w="1602570">
                  <a:extLst>
                    <a:ext uri="{9D8B030D-6E8A-4147-A177-3AD203B41FA5}">
                      <a16:colId xmlns:a16="http://schemas.microsoft.com/office/drawing/2014/main" val="864969216"/>
                    </a:ext>
                  </a:extLst>
                </a:gridCol>
                <a:gridCol w="2141783">
                  <a:extLst>
                    <a:ext uri="{9D8B030D-6E8A-4147-A177-3AD203B41FA5}">
                      <a16:colId xmlns:a16="http://schemas.microsoft.com/office/drawing/2014/main" val="4163341247"/>
                    </a:ext>
                  </a:extLst>
                </a:gridCol>
                <a:gridCol w="1278520">
                  <a:extLst>
                    <a:ext uri="{9D8B030D-6E8A-4147-A177-3AD203B41FA5}">
                      <a16:colId xmlns:a16="http://schemas.microsoft.com/office/drawing/2014/main" val="1636110324"/>
                    </a:ext>
                  </a:extLst>
                </a:gridCol>
                <a:gridCol w="1568741">
                  <a:extLst>
                    <a:ext uri="{9D8B030D-6E8A-4147-A177-3AD203B41FA5}">
                      <a16:colId xmlns:a16="http://schemas.microsoft.com/office/drawing/2014/main" val="4220995994"/>
                    </a:ext>
                  </a:extLst>
                </a:gridCol>
                <a:gridCol w="1421234">
                  <a:extLst>
                    <a:ext uri="{9D8B030D-6E8A-4147-A177-3AD203B41FA5}">
                      <a16:colId xmlns:a16="http://schemas.microsoft.com/office/drawing/2014/main" val="3805061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operation_flag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system_num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新增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482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950816"/>
              </p:ext>
            </p:extLst>
          </p:nvPr>
        </p:nvGraphicFramePr>
        <p:xfrm>
          <a:off x="2224941" y="3108530"/>
          <a:ext cx="96154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570">
                  <a:extLst>
                    <a:ext uri="{9D8B030D-6E8A-4147-A177-3AD203B41FA5}">
                      <a16:colId xmlns:a16="http://schemas.microsoft.com/office/drawing/2014/main" val="2418761976"/>
                    </a:ext>
                  </a:extLst>
                </a:gridCol>
                <a:gridCol w="1602570">
                  <a:extLst>
                    <a:ext uri="{9D8B030D-6E8A-4147-A177-3AD203B41FA5}">
                      <a16:colId xmlns:a16="http://schemas.microsoft.com/office/drawing/2014/main" val="864969216"/>
                    </a:ext>
                  </a:extLst>
                </a:gridCol>
                <a:gridCol w="2141783">
                  <a:extLst>
                    <a:ext uri="{9D8B030D-6E8A-4147-A177-3AD203B41FA5}">
                      <a16:colId xmlns:a16="http://schemas.microsoft.com/office/drawing/2014/main" val="4163341247"/>
                    </a:ext>
                  </a:extLst>
                </a:gridCol>
                <a:gridCol w="1278520">
                  <a:extLst>
                    <a:ext uri="{9D8B030D-6E8A-4147-A177-3AD203B41FA5}">
                      <a16:colId xmlns:a16="http://schemas.microsoft.com/office/drawing/2014/main" val="1636110324"/>
                    </a:ext>
                  </a:extLst>
                </a:gridCol>
                <a:gridCol w="1568741">
                  <a:extLst>
                    <a:ext uri="{9D8B030D-6E8A-4147-A177-3AD203B41FA5}">
                      <a16:colId xmlns:a16="http://schemas.microsoft.com/office/drawing/2014/main" val="4220995994"/>
                    </a:ext>
                  </a:extLst>
                </a:gridCol>
                <a:gridCol w="1421234">
                  <a:extLst>
                    <a:ext uri="{9D8B030D-6E8A-4147-A177-3AD203B41FA5}">
                      <a16:colId xmlns:a16="http://schemas.microsoft.com/office/drawing/2014/main" val="3805061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operation_flag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system_num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新增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删除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4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修改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8619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072839"/>
              </p:ext>
            </p:extLst>
          </p:nvPr>
        </p:nvGraphicFramePr>
        <p:xfrm>
          <a:off x="2224941" y="4777837"/>
          <a:ext cx="961541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570">
                  <a:extLst>
                    <a:ext uri="{9D8B030D-6E8A-4147-A177-3AD203B41FA5}">
                      <a16:colId xmlns:a16="http://schemas.microsoft.com/office/drawing/2014/main" val="2418761976"/>
                    </a:ext>
                  </a:extLst>
                </a:gridCol>
                <a:gridCol w="1602570">
                  <a:extLst>
                    <a:ext uri="{9D8B030D-6E8A-4147-A177-3AD203B41FA5}">
                      <a16:colId xmlns:a16="http://schemas.microsoft.com/office/drawing/2014/main" val="864969216"/>
                    </a:ext>
                  </a:extLst>
                </a:gridCol>
                <a:gridCol w="2141783">
                  <a:extLst>
                    <a:ext uri="{9D8B030D-6E8A-4147-A177-3AD203B41FA5}">
                      <a16:colId xmlns:a16="http://schemas.microsoft.com/office/drawing/2014/main" val="4163341247"/>
                    </a:ext>
                  </a:extLst>
                </a:gridCol>
                <a:gridCol w="1278520">
                  <a:extLst>
                    <a:ext uri="{9D8B030D-6E8A-4147-A177-3AD203B41FA5}">
                      <a16:colId xmlns:a16="http://schemas.microsoft.com/office/drawing/2014/main" val="1636110324"/>
                    </a:ext>
                  </a:extLst>
                </a:gridCol>
                <a:gridCol w="1568741">
                  <a:extLst>
                    <a:ext uri="{9D8B030D-6E8A-4147-A177-3AD203B41FA5}">
                      <a16:colId xmlns:a16="http://schemas.microsoft.com/office/drawing/2014/main" val="4220995994"/>
                    </a:ext>
                  </a:extLst>
                </a:gridCol>
                <a:gridCol w="1421234">
                  <a:extLst>
                    <a:ext uri="{9D8B030D-6E8A-4147-A177-3AD203B41FA5}">
                      <a16:colId xmlns:a16="http://schemas.microsoft.com/office/drawing/2014/main" val="3805061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operation_flag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post_flag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system_num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chemeClr val="tx1"/>
                          </a:solidFill>
                        </a:rPr>
                        <a:t>post_num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817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新增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删除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34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修改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删除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07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张三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删除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924716"/>
                  </a:ext>
                </a:extLst>
              </a:tr>
            </a:tbl>
          </a:graphicData>
        </a:graphic>
      </p:graphicFrame>
      <p:sp>
        <p:nvSpPr>
          <p:cNvPr id="7" name="右箭头 6"/>
          <p:cNvSpPr/>
          <p:nvPr/>
        </p:nvSpPr>
        <p:spPr>
          <a:xfrm>
            <a:off x="838201" y="1782967"/>
            <a:ext cx="1225490" cy="52603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新增单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838201" y="3401772"/>
            <a:ext cx="1225490" cy="52603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修改单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38200" y="5415130"/>
            <a:ext cx="1225490" cy="52603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删除</a:t>
            </a:r>
            <a:r>
              <a:rPr lang="zh-CN" altLang="en-US" dirty="0" smtClean="0">
                <a:solidFill>
                  <a:schemeClr val="tx1"/>
                </a:solidFill>
              </a:rPr>
              <a:t>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285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标准数据入库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38200" y="1690688"/>
            <a:ext cx="9717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开通单：</a:t>
            </a:r>
            <a:r>
              <a:rPr lang="en-US" altLang="zh-CN" sz="2400" dirty="0" smtClean="0"/>
              <a:t>insert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修改单：</a:t>
            </a:r>
            <a:r>
              <a:rPr lang="en-US" altLang="zh-CN" sz="2400" dirty="0" smtClean="0"/>
              <a:t>insert &amp; update xxx set </a:t>
            </a:r>
            <a:r>
              <a:rPr lang="en-US" altLang="zh-CN" sz="2400" dirty="0" err="1" smtClean="0"/>
              <a:t>post_flag</a:t>
            </a:r>
            <a:r>
              <a:rPr lang="en-US" altLang="zh-CN" sz="2400" dirty="0" smtClean="0"/>
              <a:t>=‘</a:t>
            </a:r>
            <a:r>
              <a:rPr lang="zh-CN" altLang="en-US" sz="2400" dirty="0" smtClean="0"/>
              <a:t>删除</a:t>
            </a:r>
            <a:r>
              <a:rPr lang="en-US" altLang="zh-CN" sz="2400" dirty="0" smtClean="0"/>
              <a:t>’ where xxx in (…)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拆除单：</a:t>
            </a:r>
            <a:r>
              <a:rPr lang="en-US" altLang="zh-CN" sz="2400" dirty="0" smtClean="0"/>
              <a:t>insert &amp; update xxx set </a:t>
            </a:r>
            <a:r>
              <a:rPr lang="en-US" altLang="zh-CN" sz="2400" dirty="0" err="1" smtClean="0"/>
              <a:t>post_flag</a:t>
            </a:r>
            <a:r>
              <a:rPr lang="en-US" altLang="zh-CN" sz="2400" dirty="0" smtClean="0"/>
              <a:t>=‘</a:t>
            </a:r>
            <a:r>
              <a:rPr lang="zh-CN" altLang="en-US" sz="2400" dirty="0" smtClean="0"/>
              <a:t>删除</a:t>
            </a:r>
            <a:r>
              <a:rPr lang="en-US" altLang="zh-CN" sz="2400" dirty="0" smtClean="0"/>
              <a:t>’ where xxx in (…)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72424" y="3355596"/>
            <a:ext cx="6955172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注意：更新时要根据集团规范使用正确的过滤条件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044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标准表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53629"/>
              </p:ext>
            </p:extLst>
          </p:nvPr>
        </p:nvGraphicFramePr>
        <p:xfrm>
          <a:off x="1008541" y="1843791"/>
          <a:ext cx="9821645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69470">
                  <a:extLst>
                    <a:ext uri="{9D8B030D-6E8A-4147-A177-3AD203B41FA5}">
                      <a16:colId xmlns:a16="http://schemas.microsoft.com/office/drawing/2014/main" val="231704791"/>
                    </a:ext>
                  </a:extLst>
                </a:gridCol>
                <a:gridCol w="5352175">
                  <a:extLst>
                    <a:ext uri="{9D8B030D-6E8A-4147-A177-3AD203B41FA5}">
                      <a16:colId xmlns:a16="http://schemas.microsoft.com/office/drawing/2014/main" val="365532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查询全量标准数据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全量核查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select * from </a:t>
                      </a:r>
                      <a:r>
                        <a:rPr lang="en-US" altLang="zh-CN" dirty="0" err="1" smtClean="0"/>
                        <a:t>std_table_xxx</a:t>
                      </a:r>
                      <a:r>
                        <a:rPr lang="en-US" altLang="zh-CN" dirty="0" smtClean="0"/>
                        <a:t> where </a:t>
                      </a:r>
                      <a:r>
                        <a:rPr lang="en-US" altLang="zh-CN" dirty="0" err="1" smtClean="0"/>
                        <a:t>operation_flag</a:t>
                      </a:r>
                      <a:r>
                        <a:rPr lang="en-US" altLang="zh-CN" dirty="0" smtClean="0"/>
                        <a:t> != ‘</a:t>
                      </a:r>
                      <a:r>
                        <a:rPr lang="zh-CN" altLang="en-US" dirty="0" smtClean="0"/>
                        <a:t>删除</a:t>
                      </a:r>
                      <a:r>
                        <a:rPr lang="en-US" altLang="zh-CN" dirty="0" smtClean="0"/>
                        <a:t>’ and </a:t>
                      </a:r>
                      <a:r>
                        <a:rPr lang="en-US" altLang="zh-CN" dirty="0" err="1" smtClean="0"/>
                        <a:t>post_flag</a:t>
                      </a:r>
                      <a:r>
                        <a:rPr lang="en-US" altLang="zh-CN" dirty="0" smtClean="0"/>
                        <a:t> is null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8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查询特定工单数据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增量核查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select * from </a:t>
                      </a:r>
                      <a:r>
                        <a:rPr lang="en-US" altLang="zh-CN" dirty="0" err="1" smtClean="0"/>
                        <a:t>std_table_xxx</a:t>
                      </a:r>
                      <a:r>
                        <a:rPr lang="en-US" altLang="zh-CN" dirty="0" smtClean="0"/>
                        <a:t> where </a:t>
                      </a:r>
                      <a:r>
                        <a:rPr lang="en-US" altLang="zh-CN" dirty="0" err="1" smtClean="0"/>
                        <a:t>system_num</a:t>
                      </a:r>
                      <a:r>
                        <a:rPr lang="en-US" altLang="zh-CN" dirty="0" smtClean="0"/>
                        <a:t> =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systemNum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911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查询特定版本标准数据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历史核查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select * from </a:t>
                      </a:r>
                      <a:r>
                        <a:rPr lang="en-US" altLang="zh-CN" dirty="0" err="1" smtClean="0"/>
                        <a:t>std_table_xxx</a:t>
                      </a:r>
                      <a:r>
                        <a:rPr lang="en-US" altLang="zh-CN" dirty="0" smtClean="0"/>
                        <a:t> where </a:t>
                      </a:r>
                      <a:r>
                        <a:rPr lang="en-US" altLang="zh-CN" dirty="0" err="1" smtClean="0"/>
                        <a:t>system_num</a:t>
                      </a:r>
                      <a:r>
                        <a:rPr lang="en-US" altLang="zh-CN" dirty="0" smtClean="0"/>
                        <a:t> &lt;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systemNum</a:t>
                      </a:r>
                      <a:r>
                        <a:rPr lang="en-US" altLang="zh-CN" dirty="0" smtClean="0"/>
                        <a:t> and </a:t>
                      </a:r>
                      <a:r>
                        <a:rPr lang="en-US" altLang="zh-CN" dirty="0" err="1" smtClean="0"/>
                        <a:t>operation_flag</a:t>
                      </a:r>
                      <a:r>
                        <a:rPr lang="en-US" altLang="zh-CN" dirty="0" smtClean="0"/>
                        <a:t> != '</a:t>
                      </a:r>
                      <a:r>
                        <a:rPr lang="zh-CN" altLang="en-US" dirty="0" smtClean="0"/>
                        <a:t>删除</a:t>
                      </a:r>
                      <a:r>
                        <a:rPr lang="en-US" altLang="zh-CN" dirty="0" smtClean="0"/>
                        <a:t>' and (</a:t>
                      </a:r>
                      <a:r>
                        <a:rPr lang="en-US" altLang="zh-CN" dirty="0" err="1" smtClean="0"/>
                        <a:t>post_num</a:t>
                      </a:r>
                      <a:r>
                        <a:rPr lang="en-US" altLang="zh-CN" dirty="0" smtClean="0"/>
                        <a:t> is null or </a:t>
                      </a:r>
                      <a:r>
                        <a:rPr lang="en-US" altLang="zh-CN" dirty="0" err="1" smtClean="0"/>
                        <a:t>post_num</a:t>
                      </a:r>
                      <a:r>
                        <a:rPr lang="en-US" altLang="zh-CN" dirty="0" smtClean="0"/>
                        <a:t> &gt;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systemNum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019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244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065240" y="1831248"/>
            <a:ext cx="164424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现网数据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135612" y="1831249"/>
            <a:ext cx="164424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标准</a:t>
            </a:r>
            <a:r>
              <a:rPr lang="zh-CN" altLang="en-US" dirty="0" smtClean="0">
                <a:solidFill>
                  <a:schemeClr val="tx1"/>
                </a:solidFill>
              </a:rPr>
              <a:t>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柱形 5"/>
          <p:cNvSpPr/>
          <p:nvPr/>
        </p:nvSpPr>
        <p:spPr>
          <a:xfrm>
            <a:off x="9668313" y="3005708"/>
            <a:ext cx="578840" cy="1258349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预处理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肘形连接符 7"/>
          <p:cNvCxnSpPr>
            <a:endCxn id="15" idx="1"/>
          </p:cNvCxnSpPr>
          <p:nvPr/>
        </p:nvCxnSpPr>
        <p:spPr>
          <a:xfrm rot="16200000" flipH="1">
            <a:off x="6226729" y="3011999"/>
            <a:ext cx="2520893" cy="11996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2"/>
            <a:endCxn id="6" idx="1"/>
          </p:cNvCxnSpPr>
          <p:nvPr/>
        </p:nvCxnSpPr>
        <p:spPr>
          <a:xfrm>
            <a:off x="9957733" y="2351366"/>
            <a:ext cx="0" cy="654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086988" y="4658340"/>
            <a:ext cx="872455" cy="427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比对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肘形连接符 16"/>
          <p:cNvCxnSpPr>
            <a:stCxn id="6" idx="3"/>
            <a:endCxn id="15" idx="3"/>
          </p:cNvCxnSpPr>
          <p:nvPr/>
        </p:nvCxnSpPr>
        <p:spPr>
          <a:xfrm rot="5400000">
            <a:off x="9154487" y="4069013"/>
            <a:ext cx="608202" cy="9982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5" idx="2"/>
          </p:cNvCxnSpPr>
          <p:nvPr/>
        </p:nvCxnSpPr>
        <p:spPr>
          <a:xfrm flipH="1">
            <a:off x="8523215" y="5086178"/>
            <a:ext cx="1" cy="721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579452" y="5807631"/>
            <a:ext cx="188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多、漏、错结果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838200" y="365125"/>
            <a:ext cx="3272405" cy="8177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核查逻辑</a:t>
            </a:r>
            <a:endParaRPr lang="zh-CN" altLang="en-US" dirty="0"/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838200" y="1825625"/>
            <a:ext cx="44049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标准数据和现网数据区分都明确主字段和辅字段，辅字段可以没有</a:t>
            </a:r>
            <a:endParaRPr lang="en-US" altLang="zh-CN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 smtClean="0"/>
              <a:t>先比较主字段确定多做和漏做，再比较辅字段确定正确和错做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8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核查逻辑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57" y="1623550"/>
            <a:ext cx="10254143" cy="5024725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7536110" y="1623550"/>
            <a:ext cx="4404919" cy="211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增量核查中，新增修改的标准数据不判断多做，删除的标准数据不判断漏做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0108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44161" y="3749880"/>
            <a:ext cx="6308528" cy="5033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44161" y="3749879"/>
            <a:ext cx="788566" cy="5033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32727" y="3749878"/>
            <a:ext cx="788566" cy="5033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955861" y="3749877"/>
            <a:ext cx="788566" cy="503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744427" y="3749876"/>
            <a:ext cx="788566" cy="5033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767561" y="3749877"/>
            <a:ext cx="788566" cy="503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556127" y="3749876"/>
            <a:ext cx="788566" cy="503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482167" y="38168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标准数据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144161" y="5016616"/>
            <a:ext cx="788566" cy="5033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932727" y="5016615"/>
            <a:ext cx="788566" cy="5033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482167" y="50836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现网数据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767561" y="5016615"/>
            <a:ext cx="788566" cy="503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556127" y="5016614"/>
            <a:ext cx="788566" cy="503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67561" y="5016614"/>
            <a:ext cx="788566" cy="5033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8556127" y="5016613"/>
            <a:ext cx="788566" cy="5033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4059299" y="3070371"/>
            <a:ext cx="1737494" cy="258381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245808" y="3183514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模型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1(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正确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881655" y="3070371"/>
            <a:ext cx="1737494" cy="258381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7687380" y="3070371"/>
            <a:ext cx="1737494" cy="258381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086343" y="3183514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模型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漏做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873889" y="3225456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模型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3(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错做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8" name="标题 1"/>
          <p:cNvSpPr txBox="1">
            <a:spLocks/>
          </p:cNvSpPr>
          <p:nvPr/>
        </p:nvSpPr>
        <p:spPr>
          <a:xfrm>
            <a:off x="838200" y="365125"/>
            <a:ext cx="3272405" cy="8177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多模型核查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1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323751" y="209725"/>
            <a:ext cx="1627464" cy="8053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现网数据</a:t>
            </a:r>
            <a:r>
              <a:rPr lang="en-US" altLang="zh-CN" dirty="0" err="1" smtClean="0">
                <a:solidFill>
                  <a:schemeClr val="tx1"/>
                </a:solidFill>
              </a:rPr>
              <a:t>ip,url</a:t>
            </a:r>
            <a:r>
              <a:rPr lang="zh-CN" altLang="en-US" dirty="0" smtClean="0">
                <a:solidFill>
                  <a:schemeClr val="tx1"/>
                </a:solidFill>
              </a:rPr>
              <a:t>笛卡尔积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684317" y="209725"/>
            <a:ext cx="1627464" cy="8053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标准</a:t>
            </a:r>
            <a:r>
              <a:rPr lang="zh-CN" altLang="en-US" dirty="0" smtClean="0">
                <a:solidFill>
                  <a:schemeClr val="tx1"/>
                </a:solidFill>
              </a:rPr>
              <a:t>数据</a:t>
            </a:r>
            <a:r>
              <a:rPr lang="en-US" altLang="zh-CN" dirty="0" err="1" smtClean="0">
                <a:solidFill>
                  <a:schemeClr val="tx1"/>
                </a:solidFill>
              </a:rPr>
              <a:t>ip,url</a:t>
            </a:r>
            <a:r>
              <a:rPr lang="zh-CN" altLang="en-US" dirty="0" smtClean="0">
                <a:solidFill>
                  <a:schemeClr val="tx1"/>
                </a:solidFill>
              </a:rPr>
              <a:t>笛卡尔积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323752" y="2944530"/>
            <a:ext cx="1627464" cy="8053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正确数据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209562" y="2929850"/>
            <a:ext cx="1627464" cy="8053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多做</a:t>
            </a:r>
            <a:r>
              <a:rPr lang="zh-CN" altLang="en-US" dirty="0" smtClean="0">
                <a:solidFill>
                  <a:schemeClr val="tx1"/>
                </a:solidFill>
              </a:rPr>
              <a:t>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684317" y="2972843"/>
            <a:ext cx="1627464" cy="8053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漏做</a:t>
            </a:r>
            <a:r>
              <a:rPr lang="zh-CN" altLang="en-US" dirty="0" smtClean="0">
                <a:solidFill>
                  <a:schemeClr val="tx1"/>
                </a:solidFill>
              </a:rPr>
              <a:t>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缺角矩形 11"/>
          <p:cNvSpPr/>
          <p:nvPr/>
        </p:nvSpPr>
        <p:spPr>
          <a:xfrm>
            <a:off x="5188590" y="1455482"/>
            <a:ext cx="1669409" cy="771787"/>
          </a:xfrm>
          <a:prstGeom prst="plaqu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Ip,url</a:t>
            </a:r>
            <a:r>
              <a:rPr lang="zh-CN" altLang="en-US" dirty="0" smtClean="0">
                <a:solidFill>
                  <a:schemeClr val="tx1"/>
                </a:solidFill>
              </a:rPr>
              <a:t>作为主字段比对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缺角矩形 12"/>
          <p:cNvSpPr/>
          <p:nvPr/>
        </p:nvSpPr>
        <p:spPr>
          <a:xfrm>
            <a:off x="5268284" y="4310894"/>
            <a:ext cx="1510019" cy="780176"/>
          </a:xfrm>
          <a:prstGeom prst="plaqu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处理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多做数据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209562" y="5853420"/>
            <a:ext cx="1627464" cy="8053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连带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删除的数据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684317" y="5853420"/>
            <a:ext cx="1627464" cy="8053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汇总的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漏做数据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323750" y="5853420"/>
            <a:ext cx="1627464" cy="8053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最终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多做数据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12" idx="2"/>
            <a:endCxn id="8" idx="0"/>
          </p:cNvCxnSpPr>
          <p:nvPr/>
        </p:nvCxnSpPr>
        <p:spPr>
          <a:xfrm flipH="1">
            <a:off x="6023294" y="2227269"/>
            <a:ext cx="1" cy="70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8" idx="2"/>
            <a:endCxn id="13" idx="0"/>
          </p:cNvCxnSpPr>
          <p:nvPr/>
        </p:nvCxnSpPr>
        <p:spPr>
          <a:xfrm>
            <a:off x="6023294" y="3735193"/>
            <a:ext cx="0" cy="57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3" idx="2"/>
            <a:endCxn id="14" idx="0"/>
          </p:cNvCxnSpPr>
          <p:nvPr/>
        </p:nvCxnSpPr>
        <p:spPr>
          <a:xfrm>
            <a:off x="6023294" y="5091070"/>
            <a:ext cx="0" cy="76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4" idx="3"/>
            <a:endCxn id="12" idx="0"/>
          </p:cNvCxnSpPr>
          <p:nvPr/>
        </p:nvCxnSpPr>
        <p:spPr>
          <a:xfrm>
            <a:off x="3951215" y="612397"/>
            <a:ext cx="2072080" cy="8430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5" idx="1"/>
            <a:endCxn id="12" idx="0"/>
          </p:cNvCxnSpPr>
          <p:nvPr/>
        </p:nvCxnSpPr>
        <p:spPr>
          <a:xfrm rot="10800000" flipV="1">
            <a:off x="6023295" y="612396"/>
            <a:ext cx="1661022" cy="8430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2" idx="1"/>
            <a:endCxn id="7" idx="0"/>
          </p:cNvCxnSpPr>
          <p:nvPr/>
        </p:nvCxnSpPr>
        <p:spPr>
          <a:xfrm rot="10800000" flipV="1">
            <a:off x="3137484" y="1841376"/>
            <a:ext cx="2051106" cy="11031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3"/>
            <a:endCxn id="9" idx="0"/>
          </p:cNvCxnSpPr>
          <p:nvPr/>
        </p:nvCxnSpPr>
        <p:spPr>
          <a:xfrm>
            <a:off x="6857999" y="1841376"/>
            <a:ext cx="1640050" cy="1131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13" idx="1"/>
            <a:endCxn id="16" idx="0"/>
          </p:cNvCxnSpPr>
          <p:nvPr/>
        </p:nvCxnSpPr>
        <p:spPr>
          <a:xfrm rot="10800000" flipV="1">
            <a:off x="3137482" y="4700982"/>
            <a:ext cx="2130802" cy="11524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9" idx="2"/>
            <a:endCxn id="15" idx="0"/>
          </p:cNvCxnSpPr>
          <p:nvPr/>
        </p:nvCxnSpPr>
        <p:spPr>
          <a:xfrm>
            <a:off x="8498049" y="3778186"/>
            <a:ext cx="0" cy="2075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4" idx="3"/>
            <a:endCxn id="15" idx="1"/>
          </p:cNvCxnSpPr>
          <p:nvPr/>
        </p:nvCxnSpPr>
        <p:spPr>
          <a:xfrm>
            <a:off x="6837026" y="6256092"/>
            <a:ext cx="847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96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目前测试方案存在的问题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受现网环境限制，设备无法连接时无法测试</a:t>
            </a:r>
            <a:endParaRPr lang="en-US" altLang="zh-CN" dirty="0" smtClean="0"/>
          </a:p>
          <a:p>
            <a:r>
              <a:rPr lang="zh-CN" altLang="en-US" dirty="0" smtClean="0"/>
              <a:t>测试效率低，原因包括任务执行慢、远程桌面数量少、现网环境卡顿等等</a:t>
            </a:r>
            <a:endParaRPr lang="en-US" altLang="zh-CN" dirty="0" smtClean="0"/>
          </a:p>
          <a:p>
            <a:r>
              <a:rPr lang="zh-CN" altLang="en-US" dirty="0" smtClean="0"/>
              <a:t>为了测试去修改代码</a:t>
            </a:r>
            <a:endParaRPr lang="en-US" altLang="zh-CN" dirty="0" smtClean="0"/>
          </a:p>
          <a:p>
            <a:r>
              <a:rPr lang="zh-CN" altLang="en-US" dirty="0" smtClean="0"/>
              <a:t>完全手工测试</a:t>
            </a:r>
            <a:endParaRPr lang="en-US" altLang="zh-CN" dirty="0" smtClean="0"/>
          </a:p>
          <a:p>
            <a:r>
              <a:rPr lang="zh-CN" altLang="en-US" dirty="0" smtClean="0"/>
              <a:t>测试用例不可运行，</a:t>
            </a:r>
            <a:r>
              <a:rPr lang="en-US" altLang="zh-CN" dirty="0" smtClean="0"/>
              <a:t>bug</a:t>
            </a:r>
            <a:r>
              <a:rPr lang="zh-CN" altLang="en-US" dirty="0" smtClean="0"/>
              <a:t>重复出现</a:t>
            </a:r>
            <a:endParaRPr lang="en-US" altLang="zh-CN" dirty="0" smtClean="0"/>
          </a:p>
          <a:p>
            <a:r>
              <a:rPr lang="zh-CN" altLang="en-US" dirty="0" smtClean="0"/>
              <a:t>为了解决新的</a:t>
            </a:r>
            <a:r>
              <a:rPr lang="en-US" altLang="zh-CN" dirty="0" smtClean="0"/>
              <a:t>bug</a:t>
            </a:r>
            <a:r>
              <a:rPr lang="zh-CN" altLang="en-US" dirty="0" smtClean="0"/>
              <a:t>修改代码时无法保证旧的用例仍然通过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6701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测试用例必须（尽量）可运行</a:t>
            </a:r>
            <a:endParaRPr lang="zh-CN" altLang="en-US" dirty="0"/>
          </a:p>
        </p:txBody>
      </p:sp>
      <p:pic>
        <p:nvPicPr>
          <p:cNvPr id="4" name="Picture 2" descr="unit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04113"/>
            <a:ext cx="6927675" cy="420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92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软件开发的定律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zh-CN" altLang="en-US" dirty="0" smtClean="0"/>
              <a:t>发现的越早，解决的成本越低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21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790</Words>
  <Application>Microsoft Office PowerPoint</Application>
  <PresentationFormat>宽屏</PresentationFormat>
  <Paragraphs>371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局数据培训</vt:lpstr>
      <vt:lpstr>PowerPoint 演示文稿</vt:lpstr>
      <vt:lpstr>全国业务</vt:lpstr>
      <vt:lpstr>省内业务</vt:lpstr>
      <vt:lpstr>PowerPoint 演示文稿</vt:lpstr>
      <vt:lpstr>Json-flatter</vt:lpstr>
      <vt:lpstr>PowerPoint 演示文稿</vt:lpstr>
      <vt:lpstr>标准表</vt:lpstr>
      <vt:lpstr>标准表</vt:lpstr>
      <vt:lpstr>标准数据入库</vt:lpstr>
      <vt:lpstr>标准表</vt:lpstr>
      <vt:lpstr>PowerPoint 演示文稿</vt:lpstr>
      <vt:lpstr>核查逻辑</vt:lpstr>
      <vt:lpstr>PowerPoint 演示文稿</vt:lpstr>
      <vt:lpstr>PowerPoint 演示文稿</vt:lpstr>
      <vt:lpstr>目前测试方案存在的问题</vt:lpstr>
      <vt:lpstr>测试</vt:lpstr>
      <vt:lpstr>软件开发的定律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pxzxj1</dc:creator>
  <cp:lastModifiedBy>pxzxj1</cp:lastModifiedBy>
  <cp:revision>130</cp:revision>
  <dcterms:created xsi:type="dcterms:W3CDTF">2022-12-16T06:10:06Z</dcterms:created>
  <dcterms:modified xsi:type="dcterms:W3CDTF">2024-08-15T03:58:10Z</dcterms:modified>
</cp:coreProperties>
</file>